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a1b7e92fd4497" /><Relationship Type="http://schemas.openxmlformats.org/officeDocument/2006/relationships/extended-properties" Target="/docProps/app.xml" Id="Re61fdc8d67bb4b22" /><Relationship Type="http://schemas.openxmlformats.org/officeDocument/2006/relationships/officeDocument" Target="/ppt/presentation.xml" Id="R834cb70be890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07e95ac69847eb"/>
  </p:sldMasterIdLst>
  <p:notesMasterIdLst>
    <p:notesMasterId xmlns:r="http://schemas.openxmlformats.org/officeDocument/2006/relationships" r:id="Rb4dd4ba29ce04e02"/>
  </p:notesMasterIdLst>
  <p:sldIdLst>
    <p:sldId xmlns:r="http://schemas.openxmlformats.org/officeDocument/2006/relationships" id="256" r:id="Rb6baa310a8c04c17"/>
    <p:sldId xmlns:r="http://schemas.openxmlformats.org/officeDocument/2006/relationships" id="257" r:id="Re0fa4a47e2b846bd"/>
    <p:sldId xmlns:r="http://schemas.openxmlformats.org/officeDocument/2006/relationships" id="258" r:id="R538f86735a4c4776"/>
    <p:sldId xmlns:r="http://schemas.openxmlformats.org/officeDocument/2006/relationships" id="259" r:id="Rff462295f5df4174"/>
    <p:sldId xmlns:r="http://schemas.openxmlformats.org/officeDocument/2006/relationships" id="260" r:id="R1722fed9526845ce"/>
    <p:sldId xmlns:r="http://schemas.openxmlformats.org/officeDocument/2006/relationships" id="261" r:id="R3a716a69a7d940f8"/>
    <p:sldId xmlns:r="http://schemas.openxmlformats.org/officeDocument/2006/relationships" id="262" r:id="R9c3a3875df1f4a4c"/>
    <p:sldId xmlns:r="http://schemas.openxmlformats.org/officeDocument/2006/relationships" id="263" r:id="R27d3bf3de20344af"/>
    <p:sldId xmlns:r="http://schemas.openxmlformats.org/officeDocument/2006/relationships" id="264" r:id="Rb49d2bff3e8e4378"/>
    <p:sldId xmlns:r="http://schemas.openxmlformats.org/officeDocument/2006/relationships" id="265" r:id="Rcbccd3ed4ad54582"/>
    <p:sldId xmlns:r="http://schemas.openxmlformats.org/officeDocument/2006/relationships" id="266" r:id="R507704b0031244bd"/>
    <p:sldId xmlns:r="http://schemas.openxmlformats.org/officeDocument/2006/relationships" id="267" r:id="Ra8e07cd304714663"/>
    <p:sldId xmlns:r="http://schemas.openxmlformats.org/officeDocument/2006/relationships" id="268" r:id="Rd4e79269cb2a4b55"/>
    <p:sldId xmlns:r="http://schemas.openxmlformats.org/officeDocument/2006/relationships" id="269" r:id="R298af2a840ac4ed4"/>
    <p:sldId xmlns:r="http://schemas.openxmlformats.org/officeDocument/2006/relationships" id="270" r:id="R5567ca8806c74707"/>
    <p:sldId xmlns:r="http://schemas.openxmlformats.org/officeDocument/2006/relationships" id="271" r:id="R493c8fbc7dd94ff2"/>
    <p:sldId xmlns:r="http://schemas.openxmlformats.org/officeDocument/2006/relationships" id="272" r:id="Rc1fb6203eb954848"/>
    <p:sldId xmlns:r="http://schemas.openxmlformats.org/officeDocument/2006/relationships" id="273" r:id="R2d40819fea14422e"/>
    <p:sldId xmlns:r="http://schemas.openxmlformats.org/officeDocument/2006/relationships" id="274" r:id="R4cf5cef903594819"/>
    <p:sldId xmlns:r="http://schemas.openxmlformats.org/officeDocument/2006/relationships" id="275" r:id="R8a3cfe093a194595"/>
    <p:sldId xmlns:r="http://schemas.openxmlformats.org/officeDocument/2006/relationships" id="276" r:id="R02a54b32057b47cd"/>
    <p:sldId xmlns:r="http://schemas.openxmlformats.org/officeDocument/2006/relationships" id="277" r:id="Rf87193501ee749f0"/>
    <p:sldId xmlns:r="http://schemas.openxmlformats.org/officeDocument/2006/relationships" id="278" r:id="R00ad5a9fbb60432d"/>
    <p:sldId xmlns:r="http://schemas.openxmlformats.org/officeDocument/2006/relationships" id="279" r:id="R5e204f575f004b35"/>
    <p:sldId xmlns:r="http://schemas.openxmlformats.org/officeDocument/2006/relationships" id="280" r:id="R8e4901992c1745dd"/>
    <p:sldId xmlns:r="http://schemas.openxmlformats.org/officeDocument/2006/relationships" id="281" r:id="Rc39902c8fdb84b85"/>
    <p:sldId xmlns:r="http://schemas.openxmlformats.org/officeDocument/2006/relationships" id="282" r:id="R9c83db615fec4013"/>
    <p:sldId xmlns:r="http://schemas.openxmlformats.org/officeDocument/2006/relationships" id="283" r:id="Rc2f16df241dd45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a44b1a63714199" /><Relationship Type="http://schemas.openxmlformats.org/officeDocument/2006/relationships/slideMaster" Target="/ppt/slideMasters/slideMaster1.xml" Id="R7407e95ac69847eb" /><Relationship Type="http://schemas.openxmlformats.org/officeDocument/2006/relationships/notesMaster" Target="/ppt/notesMasters/notesMaster1.xml" Id="Rb4dd4ba29ce04e02" /><Relationship Type="http://schemas.openxmlformats.org/officeDocument/2006/relationships/presProps" Target="/ppt/presProps.xml" Id="R2165b9d0c4f74344" /><Relationship Type="http://schemas.openxmlformats.org/officeDocument/2006/relationships/tableStyles" Target="/ppt/tableStyles.xml" Id="R3b2c1c165bd44a29" /><Relationship Type="http://schemas.openxmlformats.org/officeDocument/2006/relationships/slide" Target="/ppt/slides/slide1.xml" Id="Rb6baa310a8c04c17" /><Relationship Type="http://schemas.openxmlformats.org/officeDocument/2006/relationships/slide" Target="/ppt/slides/slide2.xml" Id="Re0fa4a47e2b846bd" /><Relationship Type="http://schemas.openxmlformats.org/officeDocument/2006/relationships/slide" Target="/ppt/slides/slide3.xml" Id="R538f86735a4c4776" /><Relationship Type="http://schemas.openxmlformats.org/officeDocument/2006/relationships/slide" Target="/ppt/slides/slide4.xml" Id="Rff462295f5df4174" /><Relationship Type="http://schemas.openxmlformats.org/officeDocument/2006/relationships/slide" Target="/ppt/slides/slide5.xml" Id="R1722fed9526845ce" /><Relationship Type="http://schemas.openxmlformats.org/officeDocument/2006/relationships/slide" Target="/ppt/slides/slide6.xml" Id="R3a716a69a7d940f8" /><Relationship Type="http://schemas.openxmlformats.org/officeDocument/2006/relationships/slide" Target="/ppt/slides/slide7.xml" Id="R9c3a3875df1f4a4c" /><Relationship Type="http://schemas.openxmlformats.org/officeDocument/2006/relationships/slide" Target="/ppt/slides/slide8.xml" Id="R27d3bf3de20344af" /><Relationship Type="http://schemas.openxmlformats.org/officeDocument/2006/relationships/slide" Target="/ppt/slides/slide9.xml" Id="Rb49d2bff3e8e4378" /><Relationship Type="http://schemas.openxmlformats.org/officeDocument/2006/relationships/slide" Target="/ppt/slides/slide10.xml" Id="Rcbccd3ed4ad54582" /><Relationship Type="http://schemas.openxmlformats.org/officeDocument/2006/relationships/slide" Target="/ppt/slides/slide11.xml" Id="R507704b0031244bd" /><Relationship Type="http://schemas.openxmlformats.org/officeDocument/2006/relationships/slide" Target="/ppt/slides/slide12.xml" Id="Ra8e07cd304714663" /><Relationship Type="http://schemas.openxmlformats.org/officeDocument/2006/relationships/slide" Target="/ppt/slides/slide13.xml" Id="Rd4e79269cb2a4b55" /><Relationship Type="http://schemas.openxmlformats.org/officeDocument/2006/relationships/slide" Target="/ppt/slides/slide14.xml" Id="R298af2a840ac4ed4" /><Relationship Type="http://schemas.openxmlformats.org/officeDocument/2006/relationships/slide" Target="/ppt/slides/slide15.xml" Id="R5567ca8806c74707" /><Relationship Type="http://schemas.openxmlformats.org/officeDocument/2006/relationships/slide" Target="/ppt/slides/slide16.xml" Id="R493c8fbc7dd94ff2" /><Relationship Type="http://schemas.openxmlformats.org/officeDocument/2006/relationships/slide" Target="/ppt/slides/slide17.xml" Id="Rc1fb6203eb954848" /><Relationship Type="http://schemas.openxmlformats.org/officeDocument/2006/relationships/slide" Target="/ppt/slides/slide18.xml" Id="R2d40819fea14422e" /><Relationship Type="http://schemas.openxmlformats.org/officeDocument/2006/relationships/slide" Target="/ppt/slides/slide19.xml" Id="R4cf5cef903594819" /><Relationship Type="http://schemas.openxmlformats.org/officeDocument/2006/relationships/slide" Target="/ppt/slides/slide20.xml" Id="R8a3cfe093a194595" /><Relationship Type="http://schemas.openxmlformats.org/officeDocument/2006/relationships/slide" Target="/ppt/slides/slide21.xml" Id="R02a54b32057b47cd" /><Relationship Type="http://schemas.openxmlformats.org/officeDocument/2006/relationships/slide" Target="/ppt/slides/slide22.xml" Id="Rf87193501ee749f0" /><Relationship Type="http://schemas.openxmlformats.org/officeDocument/2006/relationships/slide" Target="/ppt/slides/slide23.xml" Id="R00ad5a9fbb60432d" /><Relationship Type="http://schemas.openxmlformats.org/officeDocument/2006/relationships/slide" Target="/ppt/slides/slide24.xml" Id="R5e204f575f004b35" /><Relationship Type="http://schemas.openxmlformats.org/officeDocument/2006/relationships/slide" Target="/ppt/slides/slide25.xml" Id="R8e4901992c1745dd" /><Relationship Type="http://schemas.openxmlformats.org/officeDocument/2006/relationships/slide" Target="/ppt/slides/slide26.xml" Id="Rc39902c8fdb84b85" /><Relationship Type="http://schemas.openxmlformats.org/officeDocument/2006/relationships/slide" Target="/ppt/slides/slide27.xml" Id="R9c83db615fec4013" /><Relationship Type="http://schemas.openxmlformats.org/officeDocument/2006/relationships/slide" Target="/ppt/slides/slide28.xml" Id="Rc2f16df241dd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2d878e91754c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70ed7226a4366" /><Relationship Type="http://schemas.openxmlformats.org/officeDocument/2006/relationships/notesMaster" Target="/ppt/notesMasters/notesMaster1.xml" Id="Rcbd8d5e7320d46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e4187700874651" /><Relationship Type="http://schemas.openxmlformats.org/officeDocument/2006/relationships/notesMaster" Target="/ppt/notesMasters/notesMaster1.xml" Id="R71899f372e4a4d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df15d90d94e8a" /><Relationship Type="http://schemas.openxmlformats.org/officeDocument/2006/relationships/notesMaster" Target="/ppt/notesMasters/notesMaster1.xml" Id="R66743347a20c47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bf2c6cdeb4017" /><Relationship Type="http://schemas.openxmlformats.org/officeDocument/2006/relationships/notesMaster" Target="/ppt/notesMasters/notesMaster1.xml" Id="Rd3a2df8ce81846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bde322b3f347c8" /><Relationship Type="http://schemas.openxmlformats.org/officeDocument/2006/relationships/notesMaster" Target="/ppt/notesMasters/notesMaster1.xml" Id="R1768fcc416ae41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cf4dec98f4a02" /><Relationship Type="http://schemas.openxmlformats.org/officeDocument/2006/relationships/notesMaster" Target="/ppt/notesMasters/notesMaster1.xml" Id="R1637f60c52454c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70f1615baa4af1" /><Relationship Type="http://schemas.openxmlformats.org/officeDocument/2006/relationships/notesMaster" Target="/ppt/notesMasters/notesMaster1.xml" Id="Raac718067e60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1f81a119fb4f19" /><Relationship Type="http://schemas.openxmlformats.org/officeDocument/2006/relationships/notesMaster" Target="/ppt/notesMasters/notesMaster1.xml" Id="R0cb3569fa92241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552d8f03a54eed" /><Relationship Type="http://schemas.openxmlformats.org/officeDocument/2006/relationships/notesMaster" Target="/ppt/notesMasters/notesMaster1.xml" Id="R5dffc416fc2948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743720519d4af2" /><Relationship Type="http://schemas.openxmlformats.org/officeDocument/2006/relationships/notesMaster" Target="/ppt/notesMasters/notesMaster1.xml" Id="R04aaaab7e35a4f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e5d757f0bd4f8e" /><Relationship Type="http://schemas.openxmlformats.org/officeDocument/2006/relationships/notesMaster" Target="/ppt/notesMasters/notesMaster1.xml" Id="R89244a26607a41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ac57470b2f40b4" /><Relationship Type="http://schemas.openxmlformats.org/officeDocument/2006/relationships/notesMaster" Target="/ppt/notesMasters/notesMaster1.xml" Id="R775a42dc99dd47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674b7f9dc64346" /><Relationship Type="http://schemas.openxmlformats.org/officeDocument/2006/relationships/notesMaster" Target="/ppt/notesMasters/notesMaster1.xml" Id="Rf82d3b0ec6014c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6868f4b4ad40ec" /><Relationship Type="http://schemas.openxmlformats.org/officeDocument/2006/relationships/notesMaster" Target="/ppt/notesMasters/notesMaster1.xml" Id="Ra6b0b34ee92845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6eebb00bcb4772" /><Relationship Type="http://schemas.openxmlformats.org/officeDocument/2006/relationships/notesMaster" Target="/ppt/notesMasters/notesMaster1.xml" Id="R1689850258d141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2b53782e604f39" /><Relationship Type="http://schemas.openxmlformats.org/officeDocument/2006/relationships/notesMaster" Target="/ppt/notesMasters/notesMaster1.xml" Id="Rb130fd2a403a48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ada66af4d74984" /><Relationship Type="http://schemas.openxmlformats.org/officeDocument/2006/relationships/notesMaster" Target="/ppt/notesMasters/notesMaster1.xml" Id="Rf639986bde9b45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9e5b81a07b4f25" /><Relationship Type="http://schemas.openxmlformats.org/officeDocument/2006/relationships/notesMaster" Target="/ppt/notesMasters/notesMaster1.xml" Id="R27a33fabff3142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79f0c5372f5454a" /><Relationship Type="http://schemas.openxmlformats.org/officeDocument/2006/relationships/notesMaster" Target="/ppt/notesMasters/notesMaster1.xml" Id="R587e73191b1e4b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0979233baa49e6" /><Relationship Type="http://schemas.openxmlformats.org/officeDocument/2006/relationships/notesMaster" Target="/ppt/notesMasters/notesMaster1.xml" Id="Rbeeb1ec84bf246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660a24ce9b40b3" /><Relationship Type="http://schemas.openxmlformats.org/officeDocument/2006/relationships/notesMaster" Target="/ppt/notesMasters/notesMaster1.xml" Id="R301fec7f76394b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eac0d10e294f2c" /><Relationship Type="http://schemas.openxmlformats.org/officeDocument/2006/relationships/notesMaster" Target="/ppt/notesMasters/notesMaster1.xml" Id="R0d039a61b91d4d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a965bd0a1444dc" /><Relationship Type="http://schemas.openxmlformats.org/officeDocument/2006/relationships/notesMaster" Target="/ppt/notesMasters/notesMaster1.xml" Id="R61e71d7eb5754a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da74cb31374d50" /><Relationship Type="http://schemas.openxmlformats.org/officeDocument/2006/relationships/notesMaster" Target="/ppt/notesMasters/notesMaster1.xml" Id="Rdc9937c63aa94b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d979fb6b6344bb" /><Relationship Type="http://schemas.openxmlformats.org/officeDocument/2006/relationships/notesMaster" Target="/ppt/notesMasters/notesMaster1.xml" Id="R91967ca7a2a348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5083133f104d70" /><Relationship Type="http://schemas.openxmlformats.org/officeDocument/2006/relationships/notesMaster" Target="/ppt/notesMasters/notesMaster1.xml" Id="R7fb0e343c8034d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890e6d0ad674d0d" /><Relationship Type="http://schemas.openxmlformats.org/officeDocument/2006/relationships/notesMaster" Target="/ppt/notesMasters/notesMaster1.xml" Id="R541a2cecbad746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faf9d2863941cc" /><Relationship Type="http://schemas.openxmlformats.org/officeDocument/2006/relationships/notesMaster" Target="/ppt/notesMasters/notesMaster1.xml" Id="R2fae05083ec4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d079f856948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083140f1c4dae" /><Relationship Type="http://schemas.openxmlformats.org/officeDocument/2006/relationships/slideLayout" Target="/ppt/slideLayouts/slideLayout1.xml" Id="R4d1028eec508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028eec508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735bb023547cf" /><Relationship Type="http://schemas.openxmlformats.org/officeDocument/2006/relationships/notesSlide" Target="/ppt/notesSlides/notesSlide1.xml" Id="R54da2337b2df49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d1b217aaf4546" /><Relationship Type="http://schemas.openxmlformats.org/officeDocument/2006/relationships/notesSlide" Target="/ppt/notesSlides/notesSlide2.xml" Id="Re182a163e72547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42ad333e44d4d" /><Relationship Type="http://schemas.openxmlformats.org/officeDocument/2006/relationships/notesSlide" Target="/ppt/notesSlides/notesSlide3.xml" Id="Rd307681ea5ac4e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f1ac3e9c94f47" /><Relationship Type="http://schemas.openxmlformats.org/officeDocument/2006/relationships/notesSlide" Target="/ppt/notesSlides/notesSlide4.xml" Id="Rc89fe729dde045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400f757304f42" /><Relationship Type="http://schemas.openxmlformats.org/officeDocument/2006/relationships/notesSlide" Target="/ppt/notesSlides/notesSlide5.xml" Id="Rbc874255385f44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2d41e5fc54dd0" /><Relationship Type="http://schemas.openxmlformats.org/officeDocument/2006/relationships/notesSlide" Target="/ppt/notesSlides/notesSlide6.xml" Id="R48a21ae40e34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d5270cdc745d1" /><Relationship Type="http://schemas.openxmlformats.org/officeDocument/2006/relationships/notesSlide" Target="/ppt/notesSlides/notesSlide7.xml" Id="R3f1fb976a78443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dca5115f04d9f" /><Relationship Type="http://schemas.openxmlformats.org/officeDocument/2006/relationships/notesSlide" Target="/ppt/notesSlides/notesSlide8.xml" Id="R0f53ff82d4f146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e427b110f4c9f" /><Relationship Type="http://schemas.openxmlformats.org/officeDocument/2006/relationships/notesSlide" Target="/ppt/notesSlides/notesSlide9.xml" Id="R1efe275ae92f4e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bbe2550e945a9" /><Relationship Type="http://schemas.openxmlformats.org/officeDocument/2006/relationships/notesSlide" Target="/ppt/notesSlides/notesSlide10.xml" Id="R43555ea0f73c46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395533d8f46dd" /><Relationship Type="http://schemas.openxmlformats.org/officeDocument/2006/relationships/notesSlide" Target="/ppt/notesSlides/notesSlide11.xml" Id="R0f00f10c065f4c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6f8fe20bd4d5d" /><Relationship Type="http://schemas.openxmlformats.org/officeDocument/2006/relationships/notesSlide" Target="/ppt/notesSlides/notesSlide12.xml" Id="R8785935f606844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f67233899458b" /><Relationship Type="http://schemas.openxmlformats.org/officeDocument/2006/relationships/notesSlide" Target="/ppt/notesSlides/notesSlide13.xml" Id="R69fe24b429ac45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63d55c19c4129" /><Relationship Type="http://schemas.openxmlformats.org/officeDocument/2006/relationships/notesSlide" Target="/ppt/notesSlides/notesSlide14.xml" Id="R9c6064b8b85741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012f4f41c43bf" /><Relationship Type="http://schemas.openxmlformats.org/officeDocument/2006/relationships/notesSlide" Target="/ppt/notesSlides/notesSlide15.xml" Id="R4e7e50f9129847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b704a167344d5" /><Relationship Type="http://schemas.openxmlformats.org/officeDocument/2006/relationships/notesSlide" Target="/ppt/notesSlides/notesSlide16.xml" Id="Rdfef734201544b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34690594c488d" /><Relationship Type="http://schemas.openxmlformats.org/officeDocument/2006/relationships/notesSlide" Target="/ppt/notesSlides/notesSlide17.xml" Id="R6fcf5fe1d42b4c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e479e8cf94586" /><Relationship Type="http://schemas.openxmlformats.org/officeDocument/2006/relationships/notesSlide" Target="/ppt/notesSlides/notesSlide18.xml" Id="Rea4efb84198443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1b0cc04264b2b" /><Relationship Type="http://schemas.openxmlformats.org/officeDocument/2006/relationships/notesSlide" Target="/ppt/notesSlides/notesSlide19.xml" Id="R3ac38c49bf644e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04ef761354db5" /><Relationship Type="http://schemas.openxmlformats.org/officeDocument/2006/relationships/notesSlide" Target="/ppt/notesSlides/notesSlide20.xml" Id="R884c43319d6a4ab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b807ed83431d" /><Relationship Type="http://schemas.openxmlformats.org/officeDocument/2006/relationships/notesSlide" Target="/ppt/notesSlides/notesSlide21.xml" Id="R43df76e2d13348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67e741c854885" /><Relationship Type="http://schemas.openxmlformats.org/officeDocument/2006/relationships/notesSlide" Target="/ppt/notesSlides/notesSlide22.xml" Id="Rce1fa277dbd546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d08c620de4211" /><Relationship Type="http://schemas.openxmlformats.org/officeDocument/2006/relationships/notesSlide" Target="/ppt/notesSlides/notesSlide23.xml" Id="R814f4b99019645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2fe34af4e4f73" /><Relationship Type="http://schemas.openxmlformats.org/officeDocument/2006/relationships/notesSlide" Target="/ppt/notesSlides/notesSlide24.xml" Id="Rc3bcfb48e424487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07321622942f7" /><Relationship Type="http://schemas.openxmlformats.org/officeDocument/2006/relationships/notesSlide" Target="/ppt/notesSlides/notesSlide25.xml" Id="Re48494ef2f724e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d3751595744af" /><Relationship Type="http://schemas.openxmlformats.org/officeDocument/2006/relationships/notesSlide" Target="/ppt/notesSlides/notesSlide26.xml" Id="Rb5719a50c0f34e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1b6066b54919" /><Relationship Type="http://schemas.openxmlformats.org/officeDocument/2006/relationships/notesSlide" Target="/ppt/notesSlides/notesSlide27.xml" Id="R65e3dc2db77945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65682cc9e4bda" /><Relationship Type="http://schemas.openxmlformats.org/officeDocument/2006/relationships/notesSlide" Target="/ppt/notesSlides/notesSlide28.xml" Id="Rf4553a97f9b24a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AE7BE-0D50-43C9-9111-441FE803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AEFD0-0D58-404F-8D97-0F7F0EA2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A股研究与预测系统建设方案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7BEF8-A0DA-483B-BC24-915CE7BF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0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CLIENT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3CCBE-6967-40AC-A17C-62263C63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多智能体驱动的A股个股预测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与板块联动分析系统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1A76B-87DA-49E4-8A03-AA8AA4F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861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从投研事件发现到概率预测、板块联动与前瞻跟踪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1A08D-8E46-4EFF-805A-88BB2795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5762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4F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F6324-3633-4145-B503-4960E2BC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1238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E8EFF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事件驱动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D3DF2-764C-454D-9863-8517A85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1238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E8EFF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概率校准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0F7E5-284F-4058-8A09-FA597A78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1238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E8EFF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板块联动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61698-E33C-4C93-A995-2D691037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1238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E8EFF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前瞻事件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BCFCF-DF8C-4876-AAA8-0ADC3FD0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2192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C"/>
          </a:solidFill>
          <a:ln xmlns:a="http://schemas.openxmlformats.org/drawingml/2006/main" w="9525">
            <a:solidFill>
              <a:srgbClr val="F0F5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0C3C5-D929-4A4A-AD6B-8A58DDF9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汇报重点：总体方案、核心原理、建设步骤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76755-EFA6-456C-BE84-2C7AC716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150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面向甲方的业务与技术方案说明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80A0D-2BF9-4D7F-85BA-8CD0B5E8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150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281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2026年9月</a:t>
            </a:r>
          </a:p>
        </p:txBody>
      </p:sp>
    </p:spTree>
    <p:extLst>
      <p:ext uri="{BB962C8B-B14F-4D97-AF65-F5344CB8AC3E}">
        <p14:creationId xmlns:p14="http://schemas.microsoft.com/office/powerpoint/2010/main" val="1865354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4DC8D-29C9-4212-A687-50597569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F8C"/>
          </a:solidFill>
          <a:ln xmlns:a="http://schemas.openxmlformats.org/drawingml/2006/main" w="9525">
            <a:solidFill>
              <a:srgbClr val="0E3F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71F2F-54EB-41D4-8679-E33F5210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37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D55C7-D5B4-46E1-874C-0B4F2EC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C9D8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C9D8F2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A72A0-E796-4F4C-AD71-9207BDA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C36B9-B00E-4458-9870-F4DD15A9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525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55EBA-1E38-4D5F-B500-9E32C6A9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716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建设目标、系统全景与四项独立输出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1A4A6-C411-4DA4-BDF7-56EC74D0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6A581-18F9-4CE3-B843-25D17D01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A4A10-0F41-4F7A-A227-9E2DACD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B87CB-BF37-44C6-9E7D-6194661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事件化、候选生成、概率预测、板块联动与前瞻跟踪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3474E-B14B-48E3-BC18-1F595D1E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057DC-1E5E-4A41-9148-8BAA56ED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677A9-E861-4DF1-BED1-46D925B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4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建设步骤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877BD-0717-44B1-8E47-7131EB1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个股、板块、前瞻事件与多智能体执行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B444E-D5D2-4E51-A456-163F8DB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91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全篇只保留这一张目录页</a:t>
            </a:r>
          </a:p>
        </p:txBody>
      </p:sp>
    </p:spTree>
    <p:extLst>
      <p:ext uri="{BB962C8B-B14F-4D97-AF65-F5344CB8AC3E}">
        <p14:creationId xmlns:p14="http://schemas.microsoft.com/office/powerpoint/2010/main" val="196416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07EF0-70EE-408A-88EA-3FC3E4A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33D2A-E28B-4BD6-9DD7-DAB0C833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A4369-4039-44B9-B6AC-85E677C5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C3316-CC23-46CF-B86A-3152B268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36DA3-4F6A-49D9-9CEC-F14B59E8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C884B-3F2E-42D6-B9D1-8AE0128A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3/28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AD8E6-1514-472B-8F21-29630A09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5FEBC-1A2A-4F81-A5AB-FB995B9C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38250"/>
            <a:ext cx="476250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74EA3-D117-4C90-829E-C11578D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52550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信息数量大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D5C20-62E8-4D0B-9E3C-93D2A69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764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9A92E-7945-48FF-A785-349A948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52600"/>
            <a:ext cx="4457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首席观点、调研与会议纪要、互动问答持续增加，人工难以在固定时间内完整处理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F52EF-72EB-44C1-9492-1D017FF2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4E56D-311E-4101-B4EF-7A313E6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38250"/>
            <a:ext cx="476250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DCE5E-E30C-4463-9014-106FA7FE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52550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记录不等于证据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866EC-D231-49DD-972F-35C4A464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B9AE4-C942-452D-A63F-77B9B434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4457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同一内容可能被多次转载，同一会议也可能进入多张表，简单计数会放大利好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1B0A9-0EB4-4752-AF49-91B1CD9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5DFAC-4773-4DCF-A68D-774ECE6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476250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9CAE4-4862-4773-9F6F-8F389E05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候选来源不清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2CD35-17D6-41F7-895A-43E79461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29025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84191-933D-4AF5-A7BA-11D9BA24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5225"/>
            <a:ext cx="4457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行业或产品观点不能直接变成个股，候选股票必须说明由哪条事件、什么关系产生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460F7-6785-450B-B76E-D3DA72A7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solidFill>
              <a:srgbClr val="D9534F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35E37-0A4B-4E97-B28D-A7E5A50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90875"/>
            <a:ext cx="476250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2A9D58-DA6C-46C2-8CDC-08BE2D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0517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未来线索容易混用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183FF-CE6E-4A52-B7B7-31CC104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29025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457E4-BAED-41E3-A278-5DDDDBC9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05225"/>
            <a:ext cx="4457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尚未公布的政策和行业预期若直接进入股票或板块概率，会把推测误当成事实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D5369-F41B-490D-A263-0C307359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D3F16-55C7-482F-9464-447DB5BC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核心主线仍然回答：数据怎样处理、股票怎样筛选、结论怎样产生；未来重大线索另设独立榜单跟踪</a:t>
            </a:r>
          </a:p>
        </p:txBody>
      </p:sp>
    </p:spTree>
    <p:extLst>
      <p:ext uri="{BB962C8B-B14F-4D97-AF65-F5344CB8AC3E}">
        <p14:creationId xmlns:p14="http://schemas.microsoft.com/office/powerpoint/2010/main" val="1340315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0C4A1E-2229-42BB-9238-D9C156E6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423BD-F764-46F6-A569-37876298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建设目标与业务价值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71103-E918-4B96-9033-0C36872C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11BAA-E52C-4D32-A637-123270D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BAD0-3CD7-4E18-AE71-3A1941F5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2171B-996C-4BDD-898F-9653997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4/28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7A199-B32A-4950-A23F-D6B6DFD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36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系统建设目标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7C811-1EE2-4CFF-84F4-31D1B709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857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ABC9C-7EA6-4EBE-BBC4-BB0E5D6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每日形成结果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12A8E-D79E-4236-8044-2CD6F34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827CF-B7B4-41F1-AC0E-46F545A0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52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3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固定截止时间后，分别生成个股预测、板块轮动、共振个股和前瞻大事件榜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7FE60-2D38-43C9-A96C-41959A28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4857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68BC0-380F-4881-AD9B-B2B8C455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概率能够解释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E0FDD-5B3D-491E-8E47-1A6A1047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B1C46-322E-4CA6-B60F-3870BFE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552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使用历史样本训练和独立校准，同时列出推高与压低判断的主要因素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74D2F-0EA8-4C82-8A2C-2A057524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857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A9247-72FE-460F-A588-700E054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证据可以追溯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180FD-3CCD-4D7E-8676-F49100A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90207-413E-4497-916C-7CAA2DAE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4552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从最终排名回到五组特征、EventCard、原始记录和首次可见时间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295DE-B754-4ED1-8919-1FA7BD5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47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36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甲方获得的业务价值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F7C27-5165-429C-A96A-33399F09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857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88939-DD2A-411D-895E-5DA26125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383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更快发现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27F5C-7DE4-46B5-BE9F-C316FF72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57564-C2BA-4851-B9DC-9A7EC6D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552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从大量文本与行情中发现新增事件、资金变化和重要未来线索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2A4B1-DB5B-41C3-80FA-480E2C56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857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48098-CC26-4717-BC38-AE46E125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更严筛选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4660E-2A25-4344-A419-5EAC5D0B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1A064-C5B2-4163-BEAA-FA1CC9D7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76600"/>
            <a:ext cx="4552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以候选资格、概率、业务核验和重大负面逐层收敛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A7F0E-BA25-4DEF-A532-6B0B0831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5A66E-4B3C-4B43-9484-F85B4C0F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更易复核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D6F56-290A-46EC-A777-6FD18A7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386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A7B513-56E1-47A2-B5A9-31FD510B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14850"/>
            <a:ext cx="4552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每只股票和每个板块都能列出来源、理由与风险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F8A45F-4814-446C-9FBB-9A37017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D1B31B-1320-407B-89FB-D277FFB3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系统把信息处理、统计预测和研究核验连接成一条可重复运行的业务流程</a:t>
            </a:r>
          </a:p>
        </p:txBody>
      </p:sp>
    </p:spTree>
    <p:extLst>
      <p:ext uri="{BB962C8B-B14F-4D97-AF65-F5344CB8AC3E}">
        <p14:creationId xmlns:p14="http://schemas.microsoft.com/office/powerpoint/2010/main" val="1052158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88C582-AA3A-4040-BA28-9333100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84CD9-DF6C-472C-B4A5-72E8ADF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系统总体处理主线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96B46-1291-46D0-9202-6FBB8FF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40C3A-6406-487C-B5AA-30D5756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C265-C64E-4D85-8005-4C8803DB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12BD1-54B3-4957-8364-01D9655D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5/28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EC802-B61D-45C7-9695-0091EAF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47750"/>
            <a:ext cx="276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多源数据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投研、行情、财务与产业关系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AE08E-0FE6-4D08-B992-0D5B5A24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47750"/>
            <a:ext cx="276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11430">
            <a:solidFill>
              <a:srgbClr val="0E3F8C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统一事件化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时间、主体、来源、证据与未知项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A2951-A4FF-47C7-89A0-DD1C438D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47750"/>
            <a:ext cx="276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权限路由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区分已兑现事件与未来预期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67125" y="1476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77125" y="1476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F34FA-D1BC-487E-BF9B-2BF5862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3429000" cy="1905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478D-8E15-44F7-BA64-B0C2E036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2892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个股路径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8C21A-6757-46D5-AB53-095E13D3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5277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AE0BD-EE5E-43EC-8D95-35ED10C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28975"/>
            <a:ext cx="3124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EventCard＋CandidateLink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P0—P3逐层收敛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统计模型生成T+1概率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DeepDive与重大负面核验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B7A83-5635-406A-B532-1256A9D4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429000" cy="1905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4239B-303C-4FD8-94E8-AEE8EA53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2892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板块路径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372B0-CF03-4147-8C07-E575EDC7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5277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176CB-1CED-4735-B748-309D3579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28975"/>
            <a:ext cx="3124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行情扫描＋已兑现EventCard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生命周期识别与三路召回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分别预测T+1、T+3、T+5和退潮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09347-5946-4059-8369-B6426D3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429000" cy="1905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E715C-07BC-45E3-9548-7E18688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2892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前瞻事件路径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9BFD2-4F2C-4B51-B7FF-F102044F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5277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A4037-E347-4E8C-9125-78B4717E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28975"/>
            <a:ext cx="3124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ExpectedEventCard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事件聚类与独立来源核验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按四个维度排序并跟踪状态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不进入个股或板块概率</a:t>
            </a:r>
          </a:p>
        </p:txBody>
      </p:sp>
      <p:cxnSp>
        <p:nvCxnSpPr>
          <p:cNvPr id="53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2238375" y="1905000"/>
            <a:ext cx="76676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096000" y="1905000"/>
            <a:ext cx="38100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906000" y="1905000"/>
            <a:ext cx="476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48D5F-F116-4CA4-BD29-0A07FB40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个股预测＋板块联动冻结后再生成共振个股；前瞻大事件榜始终单独交付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2EFED-90FE-4B96-A06A-9CEDB329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5D2CD-8E64-445E-89A6-18D36CC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三条业务路径共享原始记录、时间和证据体系，但候选权限、概率与结果保持隔离</a:t>
            </a:r>
          </a:p>
        </p:txBody>
      </p:sp>
    </p:spTree>
    <p:extLst>
      <p:ext uri="{BB962C8B-B14F-4D97-AF65-F5344CB8AC3E}">
        <p14:creationId xmlns:p14="http://schemas.microsoft.com/office/powerpoint/2010/main" val="402235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CBE423-C7CB-485A-BBE0-704711B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F9654-4579-414E-9193-2D594B59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双预测引擎与四项独立输出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52E8F-F32A-4318-A857-C553867E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93AB3-6FDF-4307-B6D4-728D1BFC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EDE72-621E-47B5-B5FF-78EFC7C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BFDE9-08B2-4D49-95EB-52F9B26E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6/28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95654-9E54-4FAF-A165-97B42B86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47750"/>
            <a:ext cx="3429000" cy="15716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82DB9-F162-40CC-B7D3-F145CBD6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1620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个股T+1预测引擎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271BD-B02C-43E5-B339-46AB07F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859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B903-8875-42DE-BEE3-6BEA21E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62100"/>
            <a:ext cx="31242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以具有EventCard和候选关系的A股为对象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输出上涨、超额收益和下行风险判断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47829-D75A-4885-BE4C-B418D104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47750"/>
            <a:ext cx="3429000" cy="15716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74930-D1EE-4EBF-A0A4-196DC90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1620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板块接力与扩散引擎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89626-3D33-4589-806B-2147A1D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859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511E5-3D3F-4646-99BC-26F87D70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31242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从行情与已兑现事件双入口发现板块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输出T+1接力、T+3/T+5扩散和退潮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22719-EF16-4C8C-A658-617C884E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047750"/>
            <a:ext cx="3429000" cy="1571625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0BA3E-A66C-47A2-8C56-8A591214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1620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前瞻事件独立模块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2725B-C806-4C5F-BFC3-E1967AB0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4859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B4225-9196-4478-8EB5-6252F742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62100"/>
            <a:ext cx="31242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跟踪尚未兑现的重要政策和行业事项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只输出事件状态与排序，不输出上涨概率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06215-46A4-45FB-8B8A-C4B462E2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6712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个股预测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0至10只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7E016-534A-4617-8370-35D56BD4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板块联动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接力、扩散、退潮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5EB2C-AE10-43B4-81D5-AE438C35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共振个股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两类冻结结果的交集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A3700-AF79-4354-B35D-A3EC9C4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6712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前瞻大事件榜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0至10项</a:t>
            </a:r>
          </a:p>
        </p:txBody>
      </p:sp>
      <p:cxnSp>
        <p:nvCxnSpPr>
          <p:cNvPr id="52" name=""/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619250" y="2619375"/>
            <a:ext cx="61912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4572000" y="2619375"/>
            <a:ext cx="15240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2238375" y="2619375"/>
            <a:ext cx="52863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2619375"/>
            <a:ext cx="142875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953625" y="2619375"/>
            <a:ext cx="5238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50EE9-7DAF-441E-94D2-295BE025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F2885-70F2-44DC-8060-63FC82B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个股、板块和前瞻事件三条路径权限隔离；共振个股只读取前两类冻结结果</a:t>
            </a:r>
          </a:p>
        </p:txBody>
      </p:sp>
    </p:spTree>
    <p:extLst>
      <p:ext uri="{BB962C8B-B14F-4D97-AF65-F5344CB8AC3E}">
        <p14:creationId xmlns:p14="http://schemas.microsoft.com/office/powerpoint/2010/main" val="1439499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775A4-1A60-4601-9157-F479D515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E5B55-61CE-4A6F-ADD5-CB104293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系统逻辑架构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3AA2A-6BB6-4E34-81E7-A4F19F31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68033-86C2-4BD9-A2DB-5EB22632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6D321-F1F4-4641-933A-A1038A26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A799-26AB-433B-B309-EDA1948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7/28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1E567-F3A0-4BD6-A12B-15116B46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0012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1E4F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D4814-4CF9-499D-9850-7956BAFB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95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86A7D-3A1D-4EBB-A8B9-DF18CC69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95375"/>
            <a:ext cx="738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GANGTISE投研文本、TLDB行情财务风险、THSDB产业链与概念关系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01A9D-88A1-4BA6-BEF0-04E52734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7167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11430">
            <a:solidFill>
              <a:srgbClr val="0E3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ED19C-D2A2-4B92-83E8-60909575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669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事件与知识层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14C11-071A-41E1-B894-0ECFCB43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66925"/>
            <a:ext cx="738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时间校验、实体统一、EventCard、ExpectedEventCard、CandidateLink与时态LLM Wiki</a:t>
            </a:r>
          </a:p>
        </p:txBody>
      </p:sp>
      <p:cxnSp>
        <p:nvCxnSpPr>
          <p:cNvPr id="40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17240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3F8C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CAE6C-DCC5-4E06-8238-B8F1757F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56239-4DE5-4BAA-9631-51822FF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84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业务处理层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F85D2-C013-4932-9C35-D055F840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38475"/>
            <a:ext cx="738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个股概率模型、板块生命周期与分窗口模型、前瞻事件聚类排序</a:t>
            </a:r>
          </a:p>
        </p:txBody>
      </p:sp>
      <p:cxnSp>
        <p:nvCxnSpPr>
          <p:cNvPr id="44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6955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12C84-B917-4736-966E-FF7B501A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1477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D4316-85F2-4D5B-8FC6-7F974313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研究与风险层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88FFD-C5C7-4E65-BF1B-128D3BC9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0025"/>
            <a:ext cx="738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P2业务核验、P3 DeepDive、舆情确认、重大负面风险门</a:t>
            </a:r>
          </a:p>
        </p:txBody>
      </p:sp>
      <p:cxnSp>
        <p:nvCxnSpPr>
          <p:cNvPr id="48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36671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BFC05-54F0-4693-B254-FBBC2CF2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06607-B033-4DAD-86F8-3CE92271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交付与审计层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58488-D097-497E-B768-D2744197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738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个股、板块、共振个股、前瞻大事件榜、证据、版本和运行日志</a:t>
            </a:r>
          </a:p>
        </p:txBody>
      </p:sp>
      <p:cxnSp>
        <p:nvCxnSpPr>
          <p:cNvPr id="52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96000" y="46386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0C97B-12F1-485F-BF05-A5D4BDE5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96450-05B4-4637-B44F-22ABE4F8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大模型理解文本并形成标准事件对象；统计模型负责个股与板块概率，前瞻模块负责事件排序与状态跟踪</a:t>
            </a:r>
          </a:p>
        </p:txBody>
      </p:sp>
    </p:spTree>
    <p:extLst>
      <p:ext uri="{BB962C8B-B14F-4D97-AF65-F5344CB8AC3E}">
        <p14:creationId xmlns:p14="http://schemas.microsoft.com/office/powerpoint/2010/main" val="1504867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60EA3-75AA-403C-9720-837A1276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FAE53-8741-4E68-93D1-C692A15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方案的六项控制原则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92239-EFBD-47AF-9E79-875F1134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总体方案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B6B6-B573-45F0-A493-D73A6FC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0DC73-91E6-4571-8F79-771E40A6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5D25E-6FB9-4B88-AD99-F513A1FA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8/28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C0ED2-7D2A-477B-B890-262FD04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16671-08E9-4A42-AA21-2D72249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0625"/>
            <a:ext cx="31432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B0F30-FBEE-4BC4-9765-8B71342B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3049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时间正确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15530-DC37-41DE-97C7-62438B5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877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D742C-5EAA-43E4-8848-97D948EE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04975"/>
            <a:ext cx="2838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只使用决策时点前真正可见的信息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06196-C689-4AB5-81AD-04C8A6E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8A084-B439-42A7-8F70-47372C3A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90625"/>
            <a:ext cx="31432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FD113-6DE0-4FD5-BFE7-B29C7EF1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3049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证据追溯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89312-26F0-414B-BF8B-0B4E795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2877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4D467-7997-4AAF-B5DA-94075B0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04975"/>
            <a:ext cx="2838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结论必须回到原始记录和证据片段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84038-C54C-40DE-ABD0-241C4AF9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38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923F6-E0FC-4A34-A17F-9A548174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0625"/>
            <a:ext cx="31432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36E08-7DEF-4AF7-B1EE-1710C507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049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权限隔离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5D47F-771C-4E06-88CB-E4A8378E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2877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D3352-33E7-4E95-862F-E07713E4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04975"/>
            <a:ext cx="2838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个股、板块和前瞻事件不能互相越权创建候选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10DCA-F5E3-4770-8377-6AB78C91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9C188-E422-43C9-B7DF-8976770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31432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23BFF-06E3-49A4-A135-7F06D64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051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概率校准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22C60-55D5-40C2-889A-D4C1579D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2902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422F8-F6A2-44CC-85CF-1FD1759E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2838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原始分数通过独立验证后才称为概率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A63A0-0669-4304-9160-500D5822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4FA8"/>
          </a:solidFill>
          <a:ln xmlns:a="http://schemas.openxmlformats.org/drawingml/2006/main" w="0">
            <a:solidFill>
              <a:srgbClr val="1E4FA8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7CCFE1-D63E-4325-B4A7-AE9207DE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90875"/>
            <a:ext cx="31432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AB9EA-4941-4C51-9DCE-7A129DD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3051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结果解释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E1014-BB49-43EA-AC89-E488430C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2902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5DAE0-79FF-4980-A667-A1163C16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705225"/>
            <a:ext cx="2838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SHAP、证据和失效条件共同说明原因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92F651-99CC-4E74-A0B9-5D1A6546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38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0">
            <a:solidFill>
              <a:srgbClr val="D9534F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D7B4BD-4E0E-4595-B554-8A6C525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31432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2AB59B-FCF2-48BB-9ACB-845C021D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0517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风险否决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F8C8BB-4B33-40B3-9D67-199C93D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2902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8155F0-ECDA-466C-87C0-5DE0A24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05225"/>
            <a:ext cx="2838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重大负面触发硬门，风险状态单独留痕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468809-6CC4-44A2-9C9F-E78911B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AB2E45-3CA0-40E7-A2B7-59CB102A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控制原则贯穿数据、模型、研究、风险和交付全过程</a:t>
            </a:r>
          </a:p>
        </p:txBody>
      </p:sp>
    </p:spTree>
    <p:extLst>
      <p:ext uri="{BB962C8B-B14F-4D97-AF65-F5344CB8AC3E}">
        <p14:creationId xmlns:p14="http://schemas.microsoft.com/office/powerpoint/2010/main" val="1888562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5B7BC-7DF0-4B69-B67E-CE34059D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4411A-7BA1-4DF7-8BF9-FE729F3B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三类数据库的职责分工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E4F68-98AA-4E67-AE02-3838982B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56124-457F-4769-B7A0-D447508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1A4F3-DD3B-4181-A6AF-03015C0D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2C547-59FC-443F-9041-B1629F77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9/28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4C8AA-0474-4C65-9A4D-0B9A012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3429000" cy="2857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0150E-17B6-4534-B77F-926CB4D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001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GANGTISE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9F025-D192-4019-A396-FC8B840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C0DE0-276A-4387-884C-9101A03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0225"/>
            <a:ext cx="31242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发现新增投研事件与未来预期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已发生事件按公司或行业进入对应入口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尚未兑现的大事件进入独立前瞻榜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22D73-0E76-4D9D-99F1-AA1340C5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85875"/>
            <a:ext cx="3429000" cy="2857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2F46B-96A0-4F09-8CF9-130246F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001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TLDB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914DE-0AC1-4BD0-B1FB-456FE5B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240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9E953-3648-4791-9C8F-EA7612BF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0225"/>
            <a:ext cx="31242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提供行情、资金、财务与风险数据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验证证券状态和市场承接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支持板块行情入口的全市场扫描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4F7D7-D264-41F7-BD91-4B693F1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85875"/>
            <a:ext cx="3429000" cy="2857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469F5-A6E4-4379-9871-312BA12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4001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THSDB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C8F0-4920-4D63-994C-594C166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240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4FC86-4B45-4DBA-A388-FCE452C3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0225"/>
            <a:ext cx="31242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解释产业链、概念和经济关系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提供事件传播路径与板块身份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不能单独证明股票或板块上涨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A1CAF-216B-4159-BDA2-48944DE2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A4AC9-73D1-4632-AA0D-642A90A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统一证券主键、公司主体主键、板块指数和产业节点主键完成跨库连接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ED919-F871-47E7-9265-921A7EB1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D437E-2F80-4592-B1C1-B7109929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数据库各负其责；预期事件只引用投研证据，不借助概念关系提前生成股票或板块结论</a:t>
            </a:r>
          </a:p>
        </p:txBody>
      </p:sp>
    </p:spTree>
    <p:extLst>
      <p:ext uri="{BB962C8B-B14F-4D97-AF65-F5344CB8AC3E}">
        <p14:creationId xmlns:p14="http://schemas.microsoft.com/office/powerpoint/2010/main" val="608269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E43139-D2BC-4C7C-A1BE-275E2847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FF00B-86BA-4E98-8BAA-2001B16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从原始记录到标准事件对象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193C4-FA19-42FE-AA8B-06D8E2B1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67AC3-D35D-4635-8919-FCA4146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1CE69-793D-4E5B-BB39-E8A6681F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20B2A-0552-4C06-A6F2-D0A4A56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10/28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E7810-8BD5-42CE-8860-0A6F0437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保留原始记录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58478-5408-4E60-854A-C1EEDBEB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285875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确定首次可见时间</a:t>
            </a:r>
          </a:p>
        </p:txBody>
      </p: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00250" y="16287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85826-8D0C-4635-A3A0-718A8CB9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285875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解析事实与观点</a:t>
            </a:r>
          </a:p>
        </p:txBody>
      </p:sp>
      <p:cxnSp>
        <p:nvCxnSpPr>
          <p:cNvPr id="5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52875" y="16287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2BB4F-AB2B-45D3-A336-ED3B298A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85875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统一实体映射</a:t>
            </a:r>
          </a:p>
        </p:txBody>
      </p: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05500" y="16287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9CBA1-7FED-4B60-982E-58AFCC82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85875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主张级证据门</a:t>
            </a:r>
          </a:p>
        </p:txBody>
      </p:sp>
      <p:cxnSp>
        <p:nvCxnSpPr>
          <p:cNvPr id="6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58125" y="16287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15235-4FF8-47FC-89E0-1216235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285875"/>
            <a:ext cx="1600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生成事件对象</a:t>
            </a:r>
          </a:p>
        </p:txBody>
      </p:sp>
      <p:cxnSp>
        <p:nvCxnSpPr>
          <p:cNvPr id="65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810750" y="16287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46B8B-E71D-4D08-BB47-225AC1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标准事件对象保留什么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08725-61B3-44E5-9613-4AE94B9A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3143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51D9E-FF83-4332-AA24-3F27E117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099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事件主体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0DAD8-7433-4DB8-A762-3129F271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3377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73952-6346-4470-BCA6-4AB2EF45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09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441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公司、行业、产品或板块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8FD779-08F0-4FEB-9C11-A71DFB40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95625"/>
            <a:ext cx="3143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1A448-7837-4570-A550-632082B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099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新增信息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69F87-63E4-485B-9CBD-48F8BB70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3377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39253-7104-4CE3-8E6F-6CEF550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6099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441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事实、管理层口径或来源观点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E6877-F3CC-449B-A641-42C53E14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3143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7D544-4E72-436D-9373-6D83ED5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624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证据状态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DF502-CD1B-4121-81B9-F093CF7C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8627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F5FA4-D978-4302-8D8C-D54469D7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62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441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支持、反向、冲突与未知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2A2159-12B8-48EA-B963-62657AE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48125"/>
            <a:ext cx="3143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F6952C-A382-4E8F-822F-3CA5E280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162425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时间边界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79E62-7E8D-4ED3-964C-690F624D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8627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21700-B593-42F1-BE1C-1F21B5E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62475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441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首次可见、有效期限与失效条件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8B1FAA-1311-49B0-A1BF-20D8EF81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371475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3D1BD-D92E-4540-82FA-61D3343C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19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四个时间字段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1188A2-E8A0-485C-ACA2-4AA7C5A4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908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event_at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F328C-E3EE-4272-B490-AE0F2E4E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（事件实际发生时间）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BDF7A2-286E-437C-BE2D-62A9AD14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290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publish_at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317B0C-8ADC-49FF-A787-67A8E1B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290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（来源公开时间）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48D1EB-2AB7-47CB-844F-F14D72CB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671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available_at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C685E1-D300-43DB-AA32-3AA29327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67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（系统首次完整可见时间）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C0B900-7D4D-40DB-B82D-AD08916B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053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updated_at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A1C073-BF6B-4094-B058-06599F79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053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（内容后续修订时间）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4C5C3F-1C52-40A5-82A5-B31C770C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38750"/>
            <a:ext cx="3714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F3C5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66453F-996F-46A3-A0F3-9913ABBA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16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预测和回测只认 available_at；unknown（未知）不能补成事实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F2EA1A-0D82-4554-9C5D-A448EC0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D66542-8F66-49FF-90B8-0F942FC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已发生或已披露内容形成EventCard；尚未兑现的未来事项形成ExpectedEventCard，两者不得混用</a:t>
            </a:r>
          </a:p>
        </p:txBody>
      </p:sp>
    </p:spTree>
    <p:extLst>
      <p:ext uri="{BB962C8B-B14F-4D97-AF65-F5344CB8AC3E}">
        <p14:creationId xmlns:p14="http://schemas.microsoft.com/office/powerpoint/2010/main" val="1105533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AB77BB-762E-4BF2-8819-4B9CBED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DC2B-608A-49D7-B737-AC06654A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六类数据入口如何形成事件与候选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F4CFE-ABF8-438F-8AE8-66462A8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5115C-D5AE-4803-BAB2-CEF69395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4C28A-3A3B-4CF9-A648-0DB4922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E49C0-0003-4FAD-B607-BAD47265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11/28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41BC2-136B-44AD-9B5D-D32EDFB3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0478">
            <a:solidFill>
              <a:srgbClr val="1E4F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65597-A3A6-46DF-8BC8-673311D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95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投研日程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C3CC-9348-4E30-BA48-778756D0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095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提供事件窗口和关注线索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558D5-1A6C-4E49-8E32-A23EDE26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1447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普通日程进入WATCH；明确未来重大政策或行业事项时形成预期事件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ACEFA-56AD-451E-894C-83A7EAA5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001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0478">
            <a:solidFill>
              <a:srgbClr val="1E4F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7569C-504D-4B91-BE70-CF542D6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095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首席观点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CC791-EE9E-43C3-A716-02BE3384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95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识别公司、产品、板块和未来判断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716F4-D53B-48C0-81AE-8BDF602E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1447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公司明确时形成直接关系；行业观点形成板块事件；未来政策形成预期事件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B62AA-D716-4177-96E9-D6CAE0AE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0478">
            <a:solidFill>
              <a:srgbClr val="3A7D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A9A31-B280-4D7D-B2B7-B9661326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65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公司调研纪要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1DF3F-35F9-45ED-8456-0E772EBA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765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提取管理层事实与经营变化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6EBBE-0358-440F-AD9F-3B2015A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9562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已披露事实按公司形成事件；尚未兑现的重要事项单独跟踪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AB6F4-9C25-47FF-84D9-FC654C80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8127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0478">
            <a:solidFill>
              <a:srgbClr val="3A7D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5A3A4-5A1C-4FB1-BD69-5167DEA8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6765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电话/视频会议纪要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AC33B-232E-40D3-A4D1-9A96081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765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识别公司或行业会议新增信息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2DDF6-4301-4784-B6D7-034E9C07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9562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旧会新入库只作背景；新增事实与未来判断分开路由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E03F8-5238-40F7-B5B3-2990DD2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624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0478">
            <a:solidFill>
              <a:srgbClr val="A9791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25405-2477-44D8-BAE4-02196618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57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专家会议纪要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C5468-467B-40F8-B325-D7CE1110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576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发现行业、产品、供需和政策变化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78FF3-5B9B-4520-8F14-3556530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行业事实形成板块事件；重要未来判断形成预期事件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88AEC-E093-482F-BABA-A4E18DB5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624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0478">
            <a:solidFill>
              <a:srgbClr val="A979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3E818-B462-4890-8CEF-6EF3BF35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57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互动易问答 qa*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2F18B3-D090-48C1-ADAF-F39031D3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576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追踪管理层措辞和主题变化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39E20-33F2-4444-B7C4-0D374F25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76775"/>
            <a:ext cx="497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A2230"/>
                </a:solidFill>
                <a:latin typeface="Microsoft YaHei"/>
                <a:ea typeface="Microsoft YaHei"/>
                <a:cs typeface="Microsoft YaHei"/>
              </a:rPr>
              <a:t>实质回答形成公司事件；明确未来窗口时可形成预期事件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B2E89F-832A-4489-9FA2-693FAF91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F86FDE-9658-4E70-9BD4-ECEA71AA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各入口形成EventCard或ExpectedEventCard：前者按权限进入个股或板块入口，后者只进入前瞻大事件榜</a:t>
            </a:r>
          </a:p>
        </p:txBody>
      </p:sp>
    </p:spTree>
    <p:extLst>
      <p:ext uri="{BB962C8B-B14F-4D97-AF65-F5344CB8AC3E}">
        <p14:creationId xmlns:p14="http://schemas.microsoft.com/office/powerpoint/2010/main" val="7033212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64DD9-39FA-4874-A16E-4ABFC08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9C559-C6C5-4184-9BD0-60A9BE4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前瞻大事件榜的定位与边界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34D66-94CD-45D3-9A71-195765B2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BE970-28BD-48B2-AE0D-1026E38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C7D1B-BAA5-4F2E-9D3A-DCE9977D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5AAE3-93E0-40AC-A803-C5DC88E7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12/28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328F6-530C-4188-B12F-40A10238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8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解决的问题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7A99D-B819-4746-ADFF-BFB1EBBB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3429000" cy="1762125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4B2A0-B3C3-4314-A4DE-C04958E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430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未来可能发生什么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4AA5B-E615-4AA5-A641-FF7C9FB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57512-65D9-4153-BADF-C302AF74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43100"/>
            <a:ext cx="31242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从首席观点、调研与会议纪要、专家纪要、投研日程和互动问答中，发现尚未正式兑现但可能产生重大影响的事项。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E789C-3840-4E46-BFAE-3E4E078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1762125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E1098-6125-4ADE-A619-82765EC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430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何时值得重点跟踪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7B28B-2CC7-4691-BEB1-C35AAF6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75B0B-ED59-42BA-8FC8-64247379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31242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记录预计发布主体、推进阶段、原文支持的时间窗口、独立来源、尚未确定事项和失效条件。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37E8D-16FC-4F98-B2D4-E3EC832D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429000" cy="1762125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EF973-F817-4E25-A521-82F8323C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430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独立交付什么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6475D-23F0-4AF3-82C9-1D0E835F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669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5453B-8003-4DB2-8206-95FB4074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43100"/>
            <a:ext cx="31242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每日0至10项事件，展示重要性、新颖度、发生可能性、紧迫度、状态变化和核心证据。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0D5CC-4CF3-4630-AC3E-5250AE90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ExpectedEventCard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尚未兑现的未来事项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F72D2-1C2A-4883-B1AF-9531C74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前瞻大事件榜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独立排序与状态跟踪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F8EA1-B5E0-43AD-B5DC-11F44E22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正式兑现后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已兑现部分转为EventCard</a:t>
            </a:r>
          </a:p>
        </p:txBody>
      </p:sp>
      <p:cxnSp>
        <p:nvCxnSpPr>
          <p:cNvPr id="5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90525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52475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02D9B-4F03-48DC-8DA3-9D440ACA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不创建个股P0　｜　不新增板块候选　｜　不改变个股或板块概率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3EC09-2BC6-42E0-91C8-EF052F35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B55B73-806F-4D73-830E-B671ECA0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相关行业只用于解释潜在影响范围，不等同于板块行情判断；兑现后必须重新经过原有入口</a:t>
            </a:r>
          </a:p>
        </p:txBody>
      </p:sp>
    </p:spTree>
    <p:extLst>
      <p:ext uri="{BB962C8B-B14F-4D97-AF65-F5344CB8AC3E}">
        <p14:creationId xmlns:p14="http://schemas.microsoft.com/office/powerpoint/2010/main" val="16293263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D6855B-2221-4EE2-A717-BEEC9A96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BE498-A190-4DC1-B041-82A084B1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前瞻大事件的发现、聚类与排序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83AA0-6FEB-4780-8B9E-BD0062CD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E93F9-F511-4330-92DB-6D190968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9A126-D68E-4AEA-99E1-CB2A7C7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49B1A-7A51-4A6E-A8B0-8241BAA5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13/28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843ED-6976-4927-A422-4BDFBB74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323850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9C6F9-1694-4DEE-A416-876704D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1144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规则与结构化线索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1849C-E2A7-4AEC-B1E9-5519F2D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3827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FCD24-2E27-485E-88F1-19449B87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14475"/>
            <a:ext cx="2933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识别明确时间、日程、政策阶段、发布主体和结构化字段，保证稳定召回。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DB6E7-C19A-4C36-AFCF-ADE8A835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323850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85D99-5310-4E51-BB9D-D840D94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2892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语义模型与本地大模型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E34F7-B135-4587-9E63-98038CB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5277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E0F37-CB75-48E5-B5F6-05DF0A36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28975"/>
            <a:ext cx="2933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识别无固定关键词但表达尚待签发、完成会签或进入发布窗口等未来含义。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55673-C5FD-46D7-8F1A-CF64653F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57375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两路结果取并集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阅读完整上下文</a:t>
            </a:r>
          </a:p>
        </p:txBody>
      </p: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762375" y="1714500"/>
            <a:ext cx="57150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762375" y="2333625"/>
            <a:ext cx="57150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84104-9106-4E43-97B4-4E8566C7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ExpectedEventCard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主体、阶段、时间、来源、证据与未知项</a:t>
            </a:r>
          </a:p>
        </p:txBody>
      </p: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810375" y="2333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B1CE1-A2DB-4DB6-8F40-8584E9BB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事件聚类与转载去重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保留独立首席、机构、专家和新增事实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4F2FC2-6BFF-48A9-A5BB-68068688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分级排序与状态更新</a:t>
            </a:r>
          </a:p>
        </p:txBody>
      </p:sp>
      <p:cxnSp>
        <p:nvCxnSpPr>
          <p:cNvPr id="63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5905500" y="2809875"/>
            <a:ext cx="3000375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477125" y="37623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6C50E-6C3C-4C46-AB41-F31AC66F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14875"/>
            <a:ext cx="2619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80E00-D521-4494-BC40-605342B1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2917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重要性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FCCEC-7525-4BBC-8B30-2EA48BD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5302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E4279-A896-4373-8261-F7DABFD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29225"/>
            <a:ext cx="2314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影响范围与政策层级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EA78DB-6289-4B86-894D-3293A2B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2619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6B791-DF01-4E67-8E76-BDC81661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2917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新颖度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C45670-B3F8-4F45-8D7D-18D36DC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5302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4A5EF0-E226-4A8F-9BD0-8FCF484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29225"/>
            <a:ext cx="2314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是否新增主体、时间或阶段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BB001-371F-4178-90CD-AB70DEA9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14875"/>
            <a:ext cx="2619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D364E-9DDD-4BAA-AC33-B6B2223A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2917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发生可能性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A8AB64-2D9A-4E84-B740-53D039F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15302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B4FB94-75CE-466E-B6E5-C5A47BF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229225"/>
            <a:ext cx="2314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独立来源、官方预告与反向证据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F3274B-0AF3-4D2A-A781-1A03C1CF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14875"/>
            <a:ext cx="2619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095999-8AD9-4813-84A8-0397E7B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2917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紧迫度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453B38-C6CF-4D39-862A-38E75385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5302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110BD7-C7D8-4DA5-9A88-162441F7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29225"/>
            <a:ext cx="2314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预计数日、数周或季度内发生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D0637E-1B16-4EEB-8B30-7D7A25B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ED23B1-6EC9-4409-815E-173DDB5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V1先按等级顺序排序，不用未经回测的固定权重制造精确概率；榜单持续记录预期、确认、延期、兑现或失效</a:t>
            </a:r>
          </a:p>
        </p:txBody>
      </p:sp>
    </p:spTree>
    <p:extLst>
      <p:ext uri="{BB962C8B-B14F-4D97-AF65-F5344CB8AC3E}">
        <p14:creationId xmlns:p14="http://schemas.microsoft.com/office/powerpoint/2010/main" val="6532748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51E5D-9372-4150-BF15-E5466F2D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3A3E4-5D06-4C9B-94D5-DF59776D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重复信息处理与有效共识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35621-B608-4BE1-B206-B402A78F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96A50-827B-4F81-AF1A-6AEB045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855F2-60D7-46BA-A1CA-A1C79767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126A0-A7D3-4A51-87B4-7A89AA9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14/28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30E3B-CE22-449E-AFB5-10F5F028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原始信息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A4442-2B37-4053-804A-6DA0987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00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独立事件簇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B5F4F-A014-4957-A553-36AFE0E5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00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有效共识特征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973CF-F33C-437F-A231-8737EBA6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7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10条原始记录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其中8条为同源转载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034C0-F323-4DBF-9C5D-6CB10EA0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2位独立分析师或机构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提供新增事实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39963-DCB2-43EB-BDF2-12B9DBB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240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事件簇A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重复转载合并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B670D-210B-44A1-96D1-AF9EDC53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事件簇B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独立新增证据</a:t>
            </a:r>
          </a:p>
        </p:txBody>
      </p: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43250" y="1847850"/>
            <a:ext cx="16668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143250" y="2724150"/>
            <a:ext cx="16668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F259A-1AC5-43A1-97C9-1408F2B1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有效共识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独立性、可靠性、新颖度、时效性</a:t>
            </a:r>
          </a:p>
        </p:txBody>
      </p:sp>
      <p:cxnSp>
        <p:nvCxnSpPr>
          <p:cNvPr id="49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1866900"/>
            <a:ext cx="166687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91375" y="2286000"/>
            <a:ext cx="1666875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454BD-49BD-41F8-84CA-DD87B5BD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36A90-3517-4FEF-BD47-389F24CA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数量分别保存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0C4F3-C62E-417E-8E5B-54BE5F0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3C843-91E9-4962-A71B-741B1A0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原始记录数、独立事件数、独立分析师数、独立机构数和新增事实数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1E867-566B-49D5-B95E-303353E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333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EBA0B-6D58-4DCE-8486-187B262F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290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分析师可靠性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F5023-A5E5-424D-9151-B3EA4E06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529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0944B-CCDE-46B5-9B5B-1EE03B47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29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历史表现结合样本量收缩、行业匹配、证据质量和在职状态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C64CF-B6DE-4849-B3FB-DBC8EA34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333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E810D4-2A7D-48F4-8571-0F81F700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进入后续流程的含义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B62D4-F329-4C17-8825-547DA74D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5290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37DA08-C3E3-4EE8-A955-FD33702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已兑现事件形成模型特征；未来事项形成榜单排序依据。两者都不因提及次数直接变成概率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7335E-7F5F-49FB-BA41-4D42BCE3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329CA-F23D-4B88-BFE3-C685D079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十条转载不会形成十倍支持；多位独立来源提供新增证据，才会增强有效共识或发生可能性判断</a:t>
            </a:r>
          </a:p>
        </p:txBody>
      </p:sp>
    </p:spTree>
    <p:extLst>
      <p:ext uri="{BB962C8B-B14F-4D97-AF65-F5344CB8AC3E}">
        <p14:creationId xmlns:p14="http://schemas.microsoft.com/office/powerpoint/2010/main" val="1414598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AF396-3288-46FC-8D31-040C23A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2E8F9-28A9-40EC-A936-10EEB3F9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P0候选资格与CandidateLink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E106B-7F1D-4242-B306-1088537A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79B9E-A0A1-4693-AD7F-CA891DA0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01EF3-3B91-49DB-BFD1-2B3B818F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BE892-1F05-4679-9674-5C09E846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15/28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5ABE4-1EF7-4522-B36D-F0423CE8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476750" cy="20002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6CB12-3BEA-404A-A77D-CC1A8CF1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DIRECT 直接候选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7FBA5-AEC2-4D70-9DE3-26E8F22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393A8-5F76-433C-8769-9C2C6EC9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171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正文或结构化证券代码明确指向公司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公司是事件主体、直接受益者或风险解除对象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核心主张能够回到原文或结构化字段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7BE00-BCFB-46C7-93EB-94AF9A1A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38250"/>
            <a:ext cx="4476750" cy="20002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6B533-DB30-4B5A-906A-1D2D28CF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3525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EXPANDED 扩展候选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C8B8E-EC40-4454-85D8-9B8A92A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76400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4E085-ED72-4CA6-951C-1F9220C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4171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事件先落到明确产品或产业节点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只允许严格一跳公司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必须存在产品、收入、订单、客户、产能或资产暴露证据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B59DC-1AA6-4496-8355-1D987AF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19500"/>
            <a:ext cx="4476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CandidateLink（候选关系）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绑定EventCard与证券代码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记录DIRECT/EXPANDED、业务角色、证据和有效期</a:t>
            </a:r>
          </a:p>
        </p:txBody>
      </p: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905125" y="3238500"/>
            <a:ext cx="952500" cy="952500"/>
          </a:xfrm>
          <a:prstGeom xmlns:a="http://schemas.openxmlformats.org/drawingml/2006/main" prst="bentConnector5">
            <a:avLst>
              <a:gd name="adj1" fmla="val 0"/>
              <a:gd name="adj2" fmla="val 24000"/>
              <a:gd name="adj3" fmla="val 76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1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8334375" y="3238500"/>
            <a:ext cx="952500" cy="952500"/>
          </a:xfrm>
          <a:prstGeom xmlns:a="http://schemas.openxmlformats.org/drawingml/2006/main" prst="bentConnector5">
            <a:avLst>
              <a:gd name="adj1" fmla="val 0"/>
              <a:gd name="adj2" fmla="val 24000"/>
              <a:gd name="adj3" fmla="val 7600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9F494-5FA0-43F1-86E1-6F3D025D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F3C5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3F341-52F6-4324-A609-A6CAA3A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不具备候选资格：只有行业名称、概念标签、历史龙头、当日涨幅、大模型常识或未兑现政策预期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C1D83-C719-44B3-94AD-1F3B54F9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166B6-F0EA-46F7-8992-1F1C3FAC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只有EventCard能够建立CandidateLink进入P0；ExpectedEventCard始终留在前瞻大事件榜</a:t>
            </a:r>
          </a:p>
        </p:txBody>
      </p:sp>
    </p:spTree>
    <p:extLst>
      <p:ext uri="{BB962C8B-B14F-4D97-AF65-F5344CB8AC3E}">
        <p14:creationId xmlns:p14="http://schemas.microsoft.com/office/powerpoint/2010/main" val="3337776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4F29A-A78F-451B-AD16-F3C234C9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34FFB-425D-471B-9B5F-9B9526C0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候选池P0—P3逐层收敛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1134F-EA6A-464B-A28B-34DD3A0E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C8B8B-8514-492B-96AD-8F5CAD27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84E0A-9DAF-4C48-AACB-7B8DC0AD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0B9E5-71A7-4D4D-A3F5-AAEAB62D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16/28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7134-203B-4FAE-BF21-5D15B83E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47750"/>
            <a:ext cx="981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1E4F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34803-940A-4A15-8308-89672B8E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23950"/>
            <a:ext cx="333565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P0 候选资格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60136-A337-4B4F-9B03-F347C3D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123950"/>
            <a:ext cx="589216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时间、证券、事件关系和证据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E17FD-8CEC-40D8-B9F1-C0AD4B02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52625"/>
            <a:ext cx="8191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5DD73-20C0-4C68-B589-555C3BF6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28825"/>
            <a:ext cx="27851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P1 量化精筛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C486E-C44D-4193-8E6C-507D4D1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2028825"/>
            <a:ext cx="488823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上涨、超额收益和下行风险概率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7F3DA-D6EC-445D-8933-97B1074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657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65DA2-6AC5-41D0-B75F-2656A89F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33700"/>
            <a:ext cx="223456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P2 业务核验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4AB03-E760-4A5F-A223-2E177B09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933700"/>
            <a:ext cx="388429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公司是否真正承接事件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298ED-34CF-4B4B-8B57-B142842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495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5A1A4-985C-48FF-A7DD-1B1F2C32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38575"/>
            <a:ext cx="16840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P3 完整复核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A502F-128C-4987-BF67-BD788BDD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838575"/>
            <a:ext cx="288036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DeepDive、财务对账和重大负面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AB1D3-24A1-4683-B65A-8BE7CE55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67250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11430">
            <a:solidFill>
              <a:srgbClr val="0E3F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D6918-1770-4939-8F98-B816A04E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43450"/>
            <a:ext cx="113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最终名单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89CCE-3ABF-4B6A-B3E4-15657904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43450"/>
            <a:ext cx="1876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0至10只，不足不补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E1DDA-C637-4AA0-9C95-6F84141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DB97F-C77E-4C43-9588-BC5D9FA7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每一层解决不同问题，所有晋级、观察、排队和退出都保留原因码</a:t>
            </a:r>
          </a:p>
        </p:txBody>
      </p:sp>
    </p:spTree>
    <p:extLst>
      <p:ext uri="{BB962C8B-B14F-4D97-AF65-F5344CB8AC3E}">
        <p14:creationId xmlns:p14="http://schemas.microsoft.com/office/powerpoint/2010/main" val="6159336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30929-A7DC-4491-A438-ADC19710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611D2-62DF-4A29-84C7-F8D2618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个股T+1预测的五组特征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9D11B-1894-4306-8D76-9A3C9392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009D3-5834-4E95-8639-DA6EB881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993BA-37BE-4261-A246-3DE5F48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38C03-05CA-4412-917D-15DADF0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17/28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14CB5-355B-4AFB-B631-EB4835F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1E4FA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事件与证据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信息是否新增、可信并仍在有效期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6253A-F345-4370-BBB6-41B3E52D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38112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量价与资金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市场是否开始承接，是否存在孤立异动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1ECF1-0548-43C5-8700-E95A6188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38112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板块与产业链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外部环境和传播路径是否有利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7E36-0176-46CA-B61F-99976F9D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112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基本面预期差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收入和利润能否真正承接事件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07BE1-6497-4DBC-A82B-4508FBE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38112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9534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位置与拥挤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股价是否已经充分反映或过热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605DE-C2BD-4D83-A34D-6E8E96F7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57625"/>
            <a:ext cx="542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11430">
            <a:solidFill>
              <a:srgbClr val="0E3F8C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融合模型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学习五组特征在历史样本中的实际份量</a:t>
            </a:r>
          </a:p>
        </p:txBody>
      </p: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357313" y="3000375"/>
            <a:ext cx="473868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719513" y="3000375"/>
            <a:ext cx="237648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81713" y="3000375"/>
            <a:ext cx="1428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000375"/>
            <a:ext cx="234791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000375"/>
            <a:ext cx="471011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7A08B-7008-4C48-86B0-2192603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3048000" cy="8572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E9B28-25EF-4C99-8D00-F15C7A4A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96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上涨概率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C636E-62AB-4198-9AD6-240C828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435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7353D-A492-4371-844C-2062C5D4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972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47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T+1收盘方向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A699FF-39C9-407E-96C1-883AE1F4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05375"/>
            <a:ext cx="3048000" cy="8572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CF865-B14E-43D7-9B75-0496FD75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196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超额收益概率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011C0-CE8B-45B9-B9F7-2D727FD0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435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8DFD4-9DB6-40D4-AB72-9FCB7A9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41972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47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相对基准表现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8E962-F6A1-457E-B5AC-8E686752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048000" cy="8572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5D43B-A138-4B8F-8AD6-864879C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9675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下行风险概率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3B66A-1EC6-4E58-9EA4-56B82A2E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4352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F6EB3-0897-4D89-978A-6F4E88D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972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47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未来回撤风险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AA7C60-1A41-4C4E-AEA7-85D0346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6E40F-0267-465B-93F1-BC5FA572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五组特征共同判断机会与风险，不采用人工固定权重</a:t>
            </a:r>
          </a:p>
        </p:txBody>
      </p:sp>
    </p:spTree>
    <p:extLst>
      <p:ext uri="{BB962C8B-B14F-4D97-AF65-F5344CB8AC3E}">
        <p14:creationId xmlns:p14="http://schemas.microsoft.com/office/powerpoint/2010/main" val="13712646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1B30A-4379-4D0F-B518-B80BCD6F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78753-EA4E-4A52-8512-BC4B1CA1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上涨概率的生成与校准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5DAF8-D463-47E7-ABC4-7EA94769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CECAA-CE8A-4970-BF38-66FEFCD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AF0AE-B440-4B65-8937-CB8F91B9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5020-C374-4429-A10E-359589CD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18/28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F1364-3667-4E03-913D-22F51CA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五组特征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同一时间截面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11726-DAD3-4C17-8F2D-6688908A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428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子模型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分别识别有效模式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00250" y="18669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14EED-F6A1-4221-9CD3-EFC18847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融合模型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学习历史份量与交互</a:t>
            </a:r>
          </a:p>
        </p:txBody>
      </p: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52875" y="18669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F27C1-CD75-4306-84E9-B0B2D921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原始分数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只表示相对强弱</a:t>
            </a:r>
          </a:p>
        </p:txBody>
      </p: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05500" y="18669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444AF-BC10-4E05-AB38-5F457965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概率校准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映射到真实发生频率</a:t>
            </a:r>
          </a:p>
        </p:txBody>
      </p: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58125" y="18669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553DC-2516-470B-9D36-AE0A7C58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428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最终概率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用于排名与发布</a:t>
            </a:r>
          </a:p>
        </p:txBody>
      </p: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810750" y="18669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4FF4D-DB24-4118-B5CF-6F3E6704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17145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935CF-7311-4183-AB6D-DED8653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为什么需要校准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217A8-1C28-4489-B567-BE6B59B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4708E-27A3-472D-B676-E7E13F85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模型分数只能比较强弱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验证期把分数与真实命中频率建立映射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校准后才能解释为概率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4396A-2862-4180-AA3B-BB5BC666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7145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76FCA-7307-4FED-B51C-82BE8AB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如何判断概率可信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5AD26-AE54-4A8D-A95C-6831B04F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F9EF8-48BC-4B10-88AA-73824423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576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检查预测概率与实际命中率是否一致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同时评价前列命中、排序和下行风险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多个样本外区间保持稳定才允许上线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4D087-BA53-4BDA-A29D-9E235F0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238500" cy="17145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E3349-EBE2-47C7-A473-117CB7D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三项结果分别计算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A9B0C-9684-4CC0-9E84-D8D652E6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DE08A-6B11-4105-BF01-52A0BD8D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2933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上涨概率、超额收益概率和下行风险概率具有不同标签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三者不能简单相加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CC33A7-AD43-42C9-8619-AD695B21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925C4-98FA-492B-9C6E-5FDAD5F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每个概率都说明对象、窗口、标签、参考样本、模型版本和校准版本</a:t>
            </a:r>
          </a:p>
        </p:txBody>
      </p:sp>
    </p:spTree>
    <p:extLst>
      <p:ext uri="{BB962C8B-B14F-4D97-AF65-F5344CB8AC3E}">
        <p14:creationId xmlns:p14="http://schemas.microsoft.com/office/powerpoint/2010/main" val="16442411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E1969-C227-4E98-AE30-171AFA4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CF8C9-7492-42C7-B133-BE042A17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SHAP贡献解释与结果追溯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8E1A1-AEF3-4C31-A145-A4DE686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2021C-3305-438C-84D3-472B4090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CAB72-B92B-46F6-B5F4-64CDB566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282E1-5088-476D-A691-E0998113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19/28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5884C-5B94-43C6-AAB6-EA045B20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47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85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模型为什么提高或压低判断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B9685-DD98-4F54-ACD4-1F9325D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B97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708B6-23DA-4FEC-A5D8-A5214E5B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事件与证据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8380-DA57-481F-97E4-4DBB78E1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20955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7D5D"/>
          </a:solidFill>
          <a:ln xmlns:a="http://schemas.openxmlformats.org/drawingml/2006/main" w="9525">
            <a:solidFill>
              <a:srgbClr val="3A7D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99D04-1045-4155-A286-90FDA19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量价与资金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94F6F-FEB5-418E-9654-E7B56FAF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1476375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7D5D"/>
          </a:solidFill>
          <a:ln xmlns:a="http://schemas.openxmlformats.org/drawingml/2006/main" w="9525">
            <a:solidFill>
              <a:srgbClr val="3A7D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38231-B791-4760-AD5D-2EB586A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板块与产业链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EA238-1D46-45A1-83F0-55F0880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904875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7D5D"/>
          </a:solidFill>
          <a:ln xmlns:a="http://schemas.openxmlformats.org/drawingml/2006/main" w="9525">
            <a:solidFill>
              <a:srgbClr val="3A7D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CB1D2-7AC1-41E6-8EE8-DA0116A2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基本面预期差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CBDEE-07A1-40A1-8528-0A42D00F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619125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7D5D"/>
          </a:solidFill>
          <a:ln xmlns:a="http://schemas.openxmlformats.org/drawingml/2006/main" w="9525">
            <a:solidFill>
              <a:srgbClr val="3A7D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E8B4E-49B0-4DA9-8A12-BD730ABB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位置与拥挤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6FA8D-C747-4418-9521-797C7AFA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7145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9525">
            <a:solidFill>
              <a:srgbClr val="D95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F462B-AC44-4D9F-973D-0311F33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示意：长度表示对本次原始模型输出的影响大小，不是概率百分点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7700A-A081-4E1D-B997-1DCB956E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47750"/>
            <a:ext cx="5048250" cy="39052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46A39-7150-4FBC-BCCB-785CF30C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858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解释结果如何交付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1403F-39C6-4473-8C3D-FD9871CA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90700"/>
            <a:ext cx="43815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F68FD-1F21-4C5D-B74C-995A89D6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05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正向贡献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D0367-3CC9-416F-9121-A9517A8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列出推高本次模型判断的主要特征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A4E63-358D-42C3-A6C2-7A61DFC3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33650"/>
            <a:ext cx="43815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0E7D9-6FA8-4188-BF22-423DD70E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479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负向贡献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2597AE-0CA8-4F60-BD1C-253A452D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列出压低判断和形成风险约束的特征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A79F2-4E18-45E6-8D7D-F0450661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76600"/>
            <a:ext cx="43815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47FF4-F847-4792-AD83-B7633E5D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909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贡献排序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11F2F-8135-4D63-AE36-D945277B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按影响绝对值排序，先展示最关键因素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BECBFC-79C1-4B88-9650-5E6B346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19550"/>
            <a:ext cx="43815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279508-C34B-419B-ABCE-367ACEDA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338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证据回链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D8C7EC-5A9F-4524-863D-2A58336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每项文本特征返回对应EventCard与原文证据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1740B2-A609-47E1-A40A-D16187A0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D6F418-EE76-41B7-81BB-FDFE5CED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SHAP说明哪些特征把模型输出从总体基准推向当前结果，但不把统计贡献解释成因果关系</a:t>
            </a:r>
          </a:p>
        </p:txBody>
      </p:sp>
    </p:spTree>
    <p:extLst>
      <p:ext uri="{BB962C8B-B14F-4D97-AF65-F5344CB8AC3E}">
        <p14:creationId xmlns:p14="http://schemas.microsoft.com/office/powerpoint/2010/main" val="10744680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71F08-BB7C-4340-A571-1B766DC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5DF7A-8B35-46B0-9B23-A68B9CB5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大模型与时态投研LLM Wiki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CE9C3-AD70-4E4A-AFE8-34CAA26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11A6D-7D15-4C82-A096-26EF707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7308C-5A01-47AA-B87A-00CF5476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0CC2B-F9ED-47DF-A4F9-BF246E6A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20/28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9B40A-3A06-48C2-B1C5-49C98E9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原始投研文本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纪要、观点、问答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E1837-6115-4B65-BC0E-3C6B4501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81125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11430">
            <a:solidFill>
              <a:srgbClr val="0E3F8C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本地Qwen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事实与观点分离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未来含义识别与证据定位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F05E3-F6C8-4FB6-8173-181F472E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012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EventCard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已发生或已披露事件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1DA07-D33E-4035-9450-04F925D0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ExpectedEventCard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尚未兑现的未来事项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A5440-787B-497F-871C-EF7BAD1D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00125"/>
            <a:ext cx="2571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时态Wiki与P2/P3研究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历史对照、问题树和证据包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851ED-1D53-4ED3-89AD-D7F6EC0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571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前瞻大事件榜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聚类、排序与状态跟踪</a:t>
            </a:r>
          </a:p>
        </p:txBody>
      </p: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28875" y="2000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95875" y="1428750"/>
            <a:ext cx="619125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95875" y="2000250"/>
            <a:ext cx="619125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096250" y="1428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096250" y="2619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2E074-61D8-4032-90C2-EE522EA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333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53B7B-0067-4C40-AFC8-9394255C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大模型负责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4200D-E4B3-4139-87D5-85FAE844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0325F-56DA-4133-9C79-8C9D0F3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阅读文本、拆分来源角色、识别已发生事实与未来预期、定位证据和未知项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CA5BC-AB31-4CA6-816D-8000FD5B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67125"/>
            <a:ext cx="3333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C8B76-C1E5-4F7E-BAF9-4BD9B01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814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确定性程序负责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39C7B-9C75-42A2-ADC5-71EE928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05275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47477-CA4C-4C42-8271-5E0D98CF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81475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证券代码、日期、金额、财务计算、交易状态和证据位置校验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2B8A2-B8FB-49B5-AED7-3CB7C49B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333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7903B5-C0DB-44D7-8282-AEA7B4A1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814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Wiki使用边界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952AA-15CC-44C1-9EAD-462795ED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6A6EA-59A3-495B-BC3F-2F961068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81475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保存带时间和版本的派生知识，用于历史对照和研究导航，不创建P0、不直接计算概率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D5D90-C1DB-4EB0-B9D5-430367AD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4B394-7604-4D31-BB1D-A6A06BB8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原始记录是事实源，两类事件卡承担不同路由；LLM Wiki是可重建、带时间版本的长期研究记忆</a:t>
            </a:r>
          </a:p>
        </p:txBody>
      </p:sp>
    </p:spTree>
    <p:extLst>
      <p:ext uri="{BB962C8B-B14F-4D97-AF65-F5344CB8AC3E}">
        <p14:creationId xmlns:p14="http://schemas.microsoft.com/office/powerpoint/2010/main" val="10491494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39F206-D43B-418F-8938-89715964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24006-D3CD-431D-8523-E82DD83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Company DeepDive公司深度研究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2630B-207B-4C58-BCD7-297860A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88EAF-9110-4D83-B9B4-D8FF544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EE368-FD60-4673-98B2-A3667DB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BD953-8B6E-45D2-AC55-83D8F46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21/28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BC11F-859B-47E9-89D1-3BEB13C7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对P3候选形成结构化研究卡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1C9B9-D6EA-4225-92CB-51A4C5D4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85C6E-3701-45AE-93ED-B3E035A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43050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公司定位与产业链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E3B3B-5D22-4D7F-983A-A2A328E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A969D-325F-43F7-9488-9BA9F7AE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43100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公司依靠什么业务赚钱，处在产业链什么位置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94248-389E-4D6B-B7CF-CF5A8620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89210-B8E4-43F1-822B-744A06BE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业务拆分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48A20-83BD-43CE-8B3D-3F341DDA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3735D-73B3-463D-B3E5-4D674BDC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分业务收入、毛利和变化趋势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4F2EB-BA05-4EA0-B5B9-DDAFAEB7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91280-D07E-4C51-ACD9-D859A0B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43175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收入驱动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51F4D-5E0E-4A21-88CA-82FAF88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67025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5285D-AC1B-478D-B4DB-2605E0A6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43225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数量、价格、结构、客户与产能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6E0B7-FEE4-46DB-98FC-E8EA8660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F0F4C-9CEE-44AE-9ED8-172CE3D6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利润与ROE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FF577-2E64-4858-9B38-A034C46D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57372-C1A2-45A6-BFB0-5CA47CB4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43225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毛利率、费用率、周转和杠杆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4FB77-7F0E-47F4-9C17-42B9BB1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126E9-C8FC-48FD-8998-FE4F28EA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43300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竞争力与风险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5AC4F-25BC-470A-8799-8852B961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67150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370D1-B0A1-4A4E-81F8-53E9C22E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43350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壁垒、竞争格局和主要不确定性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E6662-68BB-4556-9DAB-3860CA18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DEF3EF-A955-4E0D-B782-49E77806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市场焦点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FE099-4BDE-4441-8383-1FDA704E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6E092-3FF9-4DCE-A812-B6A61BE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预期差、机构担忧与待证伪问题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DD1E6-FEC6-4ED5-8696-3B00523D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D0139-4C2E-4D6D-829F-FA687A4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43425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可比公司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F4424-DEB2-4452-9B6E-5DD4B55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67275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0F2620-B56D-4BA1-B463-8ABE0C6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43475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至少三家同业的业务和估值对比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1DB15A-984D-4210-AD5A-59848AB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286375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97BF1-66F5-4D73-82F8-605755EB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43425"/>
            <a:ext cx="498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跟踪指标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3E3385-8421-40A5-B4E6-087E13F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498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F0EDE2-3124-4AF1-ADDA-A18164C9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43475"/>
            <a:ext cx="498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3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财报重点观测项、成立条件与失效信号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E6078F-6ADA-48A1-B568-88BC52B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4B40CE-5A78-4C08-AD6B-408A48E0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DeepDive用于核实业务承接和补齐证据；发现事实错误时更正特征并重新计算，不人工改分</a:t>
            </a:r>
          </a:p>
        </p:txBody>
      </p:sp>
    </p:spTree>
    <p:extLst>
      <p:ext uri="{BB962C8B-B14F-4D97-AF65-F5344CB8AC3E}">
        <p14:creationId xmlns:p14="http://schemas.microsoft.com/office/powerpoint/2010/main" val="20643371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B4A85F-AF02-4132-8B71-0F593D4A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B3C29-A21C-4539-B5C2-91B2835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舆情信号与重大负面核验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24FEB-DAC5-4869-877D-A77FB77E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0D69A-3016-4905-8297-9F866BB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6037C-2563-4581-B3FA-CF99E31D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04455-AA7C-4B90-BEE2-DF2C249C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22/28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7C056-C898-4A5B-B766-9FD1E0C1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舆情在系统中的作用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8AA57-3083-4B6C-AC82-7DD83F8C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000625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63909-7177-49BC-9AF9-491BABA1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469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F3691-AB64-42E8-86C4-541C16D2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469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58933-9C9B-4B2C-8F6B-99B8C6A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0725"/>
            <a:ext cx="469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多来源对同一新增事实形成独立支持，提高事件证据完整度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EE461-18D6-48DC-93BC-076F38E0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000625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EEE2B-44B8-4F0C-9C75-15CEF6F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69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拥挤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48C94-70A1-4A96-8A5C-114CC2EE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69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0480F-7E18-49AF-857C-AB5D8D6A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69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短期提及量快速上升、措辞趋同且价格已大涨，提示交易拥挤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F2A2F-3AFD-4D55-8B84-4E83B664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5000625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7EF25-530B-4A53-B6BB-518030C5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69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9820B-123E-4A5D-9CFD-993691D4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469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A67E5-3374-4E98-BA82-F7CCD8D2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469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负面事件、质疑扩散或管理层口径转弱，形成风险特征或核验任务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DC19A-0CB7-4865-8BD0-4AA462BB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01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重大负面风险门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E76AF-1138-4B05-A965-1244D2A8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7625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53D5A-28E3-44A5-B7C7-54B81229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9067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红色  直接否决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71F0A-E4B1-481A-837C-0D90B00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14525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C5AE5-39FE-4C09-8E5A-DED867FC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90725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重大违法、财务造假、退市风险、重大诉讼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DD034-7135-4FCF-B3D9-2DB9E0BA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7625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2701D-76DC-42F9-BA6E-AE63992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黄色  补证或人工复核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22F90-B060-48B4-A577-E27AD18B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BA7958-4948-4C2D-8174-37D1DC4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媒体质疑、一般诉讼、质押或证据冲突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6CA33-BC5E-432B-9574-B704CAE4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7625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40B0FE-9313-4611-AC04-82270FE3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719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绿色  允许继续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E48D39-37EF-4986-B148-9ABE0A98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95775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EE31BB-0C46-4D44-9441-5C5F11BC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71975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在截止时间和数据范围内未发现重大阻断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B7D136-5770-4A3B-A0B4-F17DB92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37CAFD-60E5-4F17-87C0-FD17163E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舆情不单独创造候选；重大负面必须回到公告、司法或监管等可核验来源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6C7B9-5D00-434F-BD05-AA9AAE7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DEB149-A2BA-4BE3-A10B-E63BAD27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舆情负责确认、拥挤与风险提示，重大负面风险门负责最终阻断</a:t>
            </a:r>
          </a:p>
        </p:txBody>
      </p:sp>
    </p:spTree>
    <p:extLst>
      <p:ext uri="{BB962C8B-B14F-4D97-AF65-F5344CB8AC3E}">
        <p14:creationId xmlns:p14="http://schemas.microsoft.com/office/powerpoint/2010/main" val="10214358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8EA4D-FF96-4AE4-AF59-560DD9E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213C1-229B-4FC9-B4C6-A9748AB4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板块预测的行情与事件双入口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2AFAF-BEAE-4430-BA84-2CB5FEDF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8A78A-9202-44EA-AF7D-F6B79B85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102D-718C-4DAE-A311-BE8C4B0F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BA662-38A3-4876-967F-81E24CDE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23/28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0BCEB-2C85-4344-B0FC-4FF4336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572000" cy="2095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82904-8439-4675-9075-4CF92444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04925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行情入口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F187B-6B22-450A-B0E9-0B692979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28775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23FCB-225B-4D12-B44A-4632995F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4267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扫描稳定行业与概念指数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观察相对强弱、成交占比、资金连续性、上涨宽度和拥挤位置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发现资金聚集、高潮或退潮方向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E71C8-FBC4-4B89-992D-AF0AE79F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90625"/>
            <a:ext cx="4572000" cy="2095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C4F2D-08E6-47D0-BEFA-99CCCB44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304925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已兑现事件入口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3B756-24DB-41AA-BA80-31216C91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28775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6F56E-401B-448F-93B5-A42F8A9F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04975"/>
            <a:ext cx="4267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只聚合已经形成EventCard的首席观点、调研与会议纪要、专家纪要和qa*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经过事件聚类、转载去重和证据门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发现尚未充分反映在价格中的主题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C5406-CFB9-4319-98A9-96599899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板块候选集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保留入口类型、证据、关系和市场状态</a:t>
            </a:r>
          </a:p>
        </p:txBody>
      </p: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952750" y="3286125"/>
            <a:ext cx="1095375" cy="1047750"/>
          </a:xfrm>
          <a:prstGeom xmlns:a="http://schemas.openxmlformats.org/drawingml/2006/main" prst="bentConnector5">
            <a:avLst>
              <a:gd name="adj1" fmla="val 0"/>
              <a:gd name="adj2" fmla="val 21818"/>
              <a:gd name="adj3" fmla="val 7913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1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8143875" y="3286125"/>
            <a:ext cx="1095375" cy="1047750"/>
          </a:xfrm>
          <a:prstGeom xmlns:a="http://schemas.openxmlformats.org/drawingml/2006/main" prst="bentConnector5">
            <a:avLst>
              <a:gd name="adj1" fmla="val 0"/>
              <a:gd name="adj2" fmla="val 21818"/>
              <a:gd name="adj3" fmla="val 7913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DF987-052D-4E3E-9B44-CE80526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E8EF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195B5-67D0-4350-8148-6D50DF10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578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EventCard可以先于行情形成候选；ExpectedEventCard留在前瞻榜，不进入板块模型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F85F3-CFB8-46F6-927D-78CF1A2B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B6616-1F8E-4C82-8335-970CB8E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板块候选不是由一张产业链表、一次上涨或一条未兑现政策预期直接给出</a:t>
            </a:r>
          </a:p>
        </p:txBody>
      </p:sp>
    </p:spTree>
    <p:extLst>
      <p:ext uri="{BB962C8B-B14F-4D97-AF65-F5344CB8AC3E}">
        <p14:creationId xmlns:p14="http://schemas.microsoft.com/office/powerpoint/2010/main" val="2268755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C8665D-C050-43F3-913D-6717654F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8E7FD-8856-4722-B9E7-23044CF5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板块生命周期识别与三路召回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FBF19-7F96-493A-9519-1266AC3C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6DB53-2F60-417F-BE3D-07AF8382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762EF-DA2D-4881-830E-6B594352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11836-B35B-40A4-BDF3-1C7326E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24/28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F78E4-18AF-4A18-ABB6-62D243F9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819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HSMM（隐式半马尔可夫模型）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F997B-BC38-47BF-A9FB-FEE67A6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333750" cy="1762125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4502F-86F4-4D8E-8208-6F56477A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954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64C20-B70C-4799-A7C4-474F922F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19275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C78A5-D626-4236-9109-8AE0B0F2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95475"/>
            <a:ext cx="30289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价格强度与加速度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资金流、成交占比和上涨宽度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换手、涨停、拥挤度和距高点距离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EventCard数量与已兑现主题关注变化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206B5-17B8-4B28-ABEC-02CC7EB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HSMM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学习阶段特征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并显式估计持续时间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D0BD0-7709-41B4-A44E-F491307D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3333750" cy="1762125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39D00-1AC6-469B-973D-B214B1F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4954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50B99-DE1F-4A5B-AEC3-07F0ECB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19275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1396F-DD03-4399-B292-7C98ACC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95475"/>
            <a:ext cx="30289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启动、扩散、加速、高潮、退潮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各阶段概率与预计持续时间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用于确定源板块状态和召回条件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57625" y="22621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34250" y="22621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E2DA2-28DF-4A94-9CA8-A1C8386C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6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三条候选召回路径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AAD64-0B59-46BD-97F5-667C593D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4766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5FFCB-9E07-4A22-AF5D-7F62B6F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历史轮动路径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1D627-9B08-4915-8479-726AD76A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00525"/>
            <a:ext cx="317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51849-A2B8-42FC-AF25-9578BD76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76725"/>
            <a:ext cx="31718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用稳定板块指数建立转移矩阵，并以分层收缩减少小样本噪声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3E3B9-0A09-49F7-BE49-D50853D0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34766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2B52D-0A07-4559-9504-E92D87C2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76675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关系图路径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58C92-BE42-4CD8-8B9F-1A1BB01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00525"/>
            <a:ext cx="317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C860F-A945-4907-9A27-11FF640C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76725"/>
            <a:ext cx="31718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用产业链、概念和股权投资等有类型关系，形成一跳与二跳传播特征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329DD-A7CB-4E8D-B17C-369CD55F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34766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C8F3C-90BB-4709-A0E7-3DB5D49C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资金先行路径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C9757-FC1F-46C6-8A75-27B3521B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00525"/>
            <a:ext cx="317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A4AC88-D153-4272-8637-8009E541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76725"/>
            <a:ext cx="31718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筛选价格尚未充分上涨，但成交、资金和上涨宽度已经改善的板块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74C343-1B3E-4327-A0B8-B394D9A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46929-CDE2-45AD-8666-19F426F7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HSMM判断源板块所处阶段；三路召回寻找下一批候选板块，二者都不直接给出上涨概率</a:t>
            </a:r>
          </a:p>
        </p:txBody>
      </p:sp>
    </p:spTree>
    <p:extLst>
      <p:ext uri="{BB962C8B-B14F-4D97-AF65-F5344CB8AC3E}">
        <p14:creationId xmlns:p14="http://schemas.microsoft.com/office/powerpoint/2010/main" val="20353537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193C94-F31A-42E3-81AF-64A608E7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8660-DEF8-4FAB-90BD-975C3609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板块四重确认与分窗口预测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4793B-D1C7-445C-BE7C-37462FBB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核心原理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70D38-5708-407C-9A10-9C1BDD9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2BC08-62ED-4F2A-8890-99274BCD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56CB5-F2B7-45CE-B3EE-BAF4C7A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25/28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8CB6A-74D1-40AE-8519-92121B6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261937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456FC-DBB9-4179-9B33-32D1CEF1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39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92845-99E1-4C6B-A550-BA02A9F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382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0F665-5B5C-4413-B30E-420A398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14475"/>
            <a:ext cx="2314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HSMM判断启动、扩散、加速、高潮或退潮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77D63-2B75-4501-B63A-FD6E8CF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00125"/>
            <a:ext cx="261937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8EA2A-4968-483B-82C4-42F69FD6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1442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39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关系依据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EDFDB-A68B-43DD-AC7C-F793BEBC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4382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40D8E-35CE-4CE8-88D1-2B6253DD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14475"/>
            <a:ext cx="2314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历史轮动与产业链、概念、股权投资关系支持传播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67A1A-23D8-4D25-AC9A-B8CB19E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00125"/>
            <a:ext cx="261937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09980-A46A-431B-B6D4-79E7B95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1442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39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资金确认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43456-F973-4159-8B13-898D95AA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382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D7116-B5B0-4AB5-87CF-6E881232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14475"/>
            <a:ext cx="2314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成交占比、资金连续性和上涨宽度同步改善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FB0DD-DBBD-44EB-8B43-6B5CB682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00125"/>
            <a:ext cx="261937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585EA-EF2C-410E-8ECF-5315CAC2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14425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39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位置与风险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4FA69-330F-4D17-BC27-50B8709D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38275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5064A-AA28-4B6E-8026-4823651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14475"/>
            <a:ext cx="2314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排除高位拥挤、宽度收缩和负面事件放大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CE82C-3001-4173-BA93-2C5FBF51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756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确认通过后分别预测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A87CA-977E-4E94-B2B2-43D5EF11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43250"/>
            <a:ext cx="2619375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212D93-F13F-4232-8A78-9DD60377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57550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T+1 接力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0198B-618F-4651-832E-5797551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814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F2EDA-7D01-484C-8687-3D007926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57600"/>
            <a:ext cx="2314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短期资金与市场宽度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239B8-1395-4772-B2AF-945C775F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619375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A6D20-2B99-43CA-9A4A-0364A7F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57550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T+3 扩散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3AE46C-6551-413C-8C10-A9E86CA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4EE62D-1AD4-4341-82BD-FAC9C63E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57600"/>
            <a:ext cx="2314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事件传播与初步资金确认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672B3-46A2-4DA7-9783-2EC6DFB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2619375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5406E9-0E05-457A-B445-AD9FC4F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T+5 扩散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41F030-AC7A-4E01-84BA-10C47B28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814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BFD9F8-8A97-4399-924D-6EF7FF35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57600"/>
            <a:ext cx="2314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事件持续性与利润传导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A3D26-0FC6-407A-BDCA-59E36C57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619375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4A09D-96A3-48D2-B491-8B17BD0C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57550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退潮预警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2EE7C-FB09-40ED-9CE7-21E90A10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2314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8841DD-7F97-4E03-9812-5C91DBE1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57600"/>
            <a:ext cx="23145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资金流出、龙头背离与拥挤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0AEA74-B938-4CE0-8E99-903C14B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CD9D22-7235-4DD5-8301-76E81CE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673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LightGBM或LambdaRank学习各窗口的历史排序规律，验证样本再把原始分数校准为可解释概率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DFACD8-EB73-4E9B-8FCE-2F83BA6B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AB2DFA-1D05-43F3-AC34-D60401FB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四类结果分别训练、分别校准，并发布概率、排名、主要依据和失效条件</a:t>
            </a:r>
          </a:p>
        </p:txBody>
      </p:sp>
    </p:spTree>
    <p:extLst>
      <p:ext uri="{BB962C8B-B14F-4D97-AF65-F5344CB8AC3E}">
        <p14:creationId xmlns:p14="http://schemas.microsoft.com/office/powerpoint/2010/main" val="10582050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6CCC2-E3A3-41AF-82E8-A3B7DABF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45987-FA48-4647-8343-A031EFB3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个股预测的每日运行步骤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8D790-5439-49CD-836A-B9116751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建设步骤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7632E-EA81-406D-906E-26F68272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A6437-37F5-4827-8A35-A9C1BCE6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501B2-B649-4B92-891A-DF6A4EE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26/28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F1AC3-A08F-46F4-9B44-ECC37AB8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01  冻结数据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固定截止时间和快照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1CD49-C206-4E69-BC25-FDE534AC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858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02  更新事件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新增记录形成EventCard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D5D21-EF1D-4D18-9EB7-1FEC5A7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03  生成P0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验证候选资格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CFE45-9A74-49F4-818D-B3DAFD3A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2858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04  P1预测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计算三类概率与排名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E8964-FA68-4B32-A97B-7653BCAC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813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05  P2核验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核实公司业务承接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5A5EF-2990-476E-AE1A-5EC2BF6B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06  P3复核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DeepDive与财务对账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D0034-BBCB-4856-8141-D902114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813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9534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07  风险门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重大负面与状态检查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24F18-663F-4DA0-A2A7-0180A1D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8137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08  结果发布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0至10只，不足不补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1714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62625" y="1714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67750" y="1714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382250" y="21431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667750" y="3810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762625" y="3810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34F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2857500" y="3810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E4660-2ED9-45F0-AC15-D7C2A655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9525">
            <a:solidFill>
              <a:srgbClr val="E8EF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51430-F7AA-407C-91EC-747895E3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每个步骤记录输入版本、开始与结束时间、状态、错误码和证据ID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746B3-5E12-47D5-87A3-EE85246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AD34DE-CEE8-4249-A84B-4D6E5C4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个股流程从事件资格开始，以概率、研究和风险共同通过为发布条件</a:t>
            </a:r>
          </a:p>
        </p:txBody>
      </p:sp>
    </p:spTree>
    <p:extLst>
      <p:ext uri="{BB962C8B-B14F-4D97-AF65-F5344CB8AC3E}">
        <p14:creationId xmlns:p14="http://schemas.microsoft.com/office/powerpoint/2010/main" val="16762473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C2C395-2711-49BC-BB33-0DE81E1A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21E5E-5387-46AA-9CF0-150E124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板块预测的每日运行步骤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92618-1CCE-4E23-9199-989C39FD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建设步骤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B5F5A-F7B3-4D66-8F98-48A300F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C978E-141B-4E75-B4D1-3669338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97612-7599-4250-B3D6-4F3B14B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27/28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63BE7-982E-433F-9975-9FA5C3D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行情扫描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发现资金源板块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0DD50-4850-43BD-B3CF-A69A3596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事件聚合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聚合已兑现EventCard</a:t>
            </a:r>
          </a:p>
        </p:txBody>
      </p: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666875" y="2000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295A0-240A-4BC5-8E7C-085339D9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阶段判断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HSMM识别生命周期</a:t>
            </a:r>
          </a:p>
        </p:txBody>
      </p: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24200" y="2000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D1800-97A4-40B8-9799-A172C113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三路召回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历史、关系、资金</a:t>
            </a:r>
          </a:p>
        </p:txBody>
      </p: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81525" y="2000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F3385-7355-4D27-A921-B15F736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候选去重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形成当日板块簇</a:t>
            </a:r>
          </a:p>
        </p:txBody>
      </p: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38850" y="2000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DF39C-64E3-4B7A-BD22-3B7C7DF0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分窗口预测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T+1、T+3、T+5</a:t>
            </a:r>
          </a:p>
        </p:txBody>
      </p:sp>
      <p:cxnSp>
        <p:nvCxnSpPr>
          <p:cNvPr id="52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96175" y="2000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80F15-8F12-4AB3-BB84-96ADF186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9534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退潮识别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独立风险模型</a:t>
            </a:r>
          </a:p>
        </p:txBody>
      </p:sp>
      <p:cxnSp>
        <p:nvCxnSpPr>
          <p:cNvPr id="54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953500" y="2000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34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7D4CB-C615-496F-9DA7-4898565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381125"/>
            <a:ext cx="1238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板块日报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概率、排名与依据</a:t>
            </a:r>
          </a:p>
        </p:txBody>
      </p: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410825" y="2000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356D7-AC28-4038-AA2D-E3AB271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3238500" cy="16192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77835-A2EC-4A81-A74B-E95DA2C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956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板块独立输出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7BA58-93C5-42E1-B472-2829190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952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980C2-3C7D-46F2-8832-E32788B3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95725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只发布板块T+1、T+3、T+5和退潮结果，不输出推荐股票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8D05E-22C9-424A-9B10-B8BC1D9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3238500" cy="16192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8CE188-C22E-484F-B685-56A47B0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956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共振榜生成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461C1-BC0B-4F09-810A-F52A24CF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952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C56AC-8D4B-4585-9E09-D786D1BC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95725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个股与板块结果冻结后再取交集，不新增候选、不重排个股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1DA29-49E1-45A4-9BDA-0F237052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81375"/>
            <a:ext cx="3238500" cy="16192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74DB8-A8AB-47ED-B01C-D13FF478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956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8BEF0-94ED-4C40-B5F1-50146DA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1952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612464-951D-4510-89A3-E733433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95725"/>
            <a:ext cx="293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保留入口、召回路径、生命周期、校准概率和失效条件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1F8909-EB91-4944-81FB-973576DC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F60261-F9E2-437E-9D69-904ACFCF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板块流程从全市场和事件双入口开始，以分窗口概率和退潮风险结束</a:t>
            </a:r>
          </a:p>
        </p:txBody>
      </p:sp>
    </p:spTree>
    <p:extLst>
      <p:ext uri="{BB962C8B-B14F-4D97-AF65-F5344CB8AC3E}">
        <p14:creationId xmlns:p14="http://schemas.microsoft.com/office/powerpoint/2010/main" val="17153547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74355-EDF5-4ACB-B1B3-55F0CA7D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A8"/>
          </a:solidFill>
          <a:ln xmlns:a="http://schemas.openxmlformats.org/drawingml/2006/main" w="9525">
            <a:solidFill>
              <a:srgbClr val="1E4F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33872-80B6-4726-9A56-45664F6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多智能体执行与审计闭环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A7B07-7630-4822-B5B3-9EBCA03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DDE8F8"/>
                </a:solidFill>
                <a:latin typeface="Microsoft YaHei"/>
                <a:ea typeface="Microsoft YaHei"/>
                <a:cs typeface="Microsoft YaHei"/>
              </a:rPr>
              <a:t>建设步骤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82141-89E5-40EB-8F9E-0C796F25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865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BE82A-E304-4595-987A-42F4EF0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8B97A8"/>
                </a:solidFill>
                <a:latin typeface="Microsoft YaHei"/>
                <a:ea typeface="Microsoft YaHei"/>
                <a:cs typeface="Microsoft YaHei"/>
              </a:rPr>
              <a:t>多智能体驱动的A股个股预测与板块联动分析系统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186C4-481B-4787-BF99-8CFDFD10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34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454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28/28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490CF-E1B4-4FF2-8E6C-37B7A41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11430">
            <a:solidFill>
              <a:srgbClr val="0E3F8C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流程编排智能体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冻结快照、调度任务、处理异常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A6D33-658F-4706-AB6C-32044BB2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1E4FA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事件理解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4FA8"/>
                </a:solidFill>
                <a:latin typeface="Microsoft YaHei"/>
                <a:ea typeface="Microsoft YaHei"/>
                <a:cs typeface="Microsoft YaHei"/>
              </a:rPr>
              <a:t>生成两类事件卡</a:t>
            </a:r>
          </a:p>
        </p:txBody>
      </p:sp>
      <p:cxnSp>
        <p:nvCxnSpPr>
          <p:cNvPr id="3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14438" y="2000250"/>
            <a:ext cx="4881563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E4FA8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8B4D5-5BB5-4263-B5A7-95CA84EE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81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C"/>
          </a:solidFill>
          <a:ln xmlns:a="http://schemas.openxmlformats.org/drawingml/2006/main" w="11430">
            <a:solidFill>
              <a:srgbClr val="3D7BD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实体证据与Wiki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7BD9"/>
                </a:solidFill>
                <a:latin typeface="Microsoft YaHei"/>
                <a:ea typeface="Microsoft YaHei"/>
                <a:cs typeface="Microsoft YaHei"/>
              </a:rPr>
              <a:t>校验证据并维护知识</a:t>
            </a:r>
          </a:p>
        </p:txBody>
      </p:sp>
      <p:cxnSp>
        <p:nvCxnSpPr>
          <p:cNvPr id="41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167063" y="2000250"/>
            <a:ext cx="2928938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14C5F-9D76-4388-B95F-02529AC9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1430">
            <a:solidFill>
              <a:srgbClr val="3A7D5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个股与板块预测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5D"/>
                </a:solidFill>
                <a:latin typeface="Microsoft YaHei"/>
                <a:ea typeface="Microsoft YaHei"/>
                <a:cs typeface="Microsoft YaHei"/>
              </a:rPr>
              <a:t>调用冻结统计模型</a:t>
            </a:r>
          </a:p>
        </p:txBody>
      </p: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119688" y="2000250"/>
            <a:ext cx="976313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A7D5D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C3CF0-631D-43A2-847D-224071E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前瞻事件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聚类、排序与状态跟踪</a:t>
            </a:r>
          </a:p>
        </p:txBody>
      </p: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000250"/>
            <a:ext cx="976313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F9F06-B5EA-49F6-A61C-8E5BE59E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BF3DF"/>
          </a:solidFill>
          <a:ln xmlns:a="http://schemas.openxmlformats.org/drawingml/2006/main" w="11430">
            <a:solidFill>
              <a:srgbClr val="A9791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DeepDive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7916"/>
                </a:solidFill>
                <a:latin typeface="Microsoft YaHei"/>
                <a:ea typeface="Microsoft YaHei"/>
                <a:cs typeface="Microsoft YaHei"/>
              </a:rPr>
              <a:t>组织公司研究</a:t>
            </a:r>
          </a:p>
        </p:txBody>
      </p:sp>
      <p:cxnSp>
        <p:nvCxnSpPr>
          <p:cNvPr id="47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000250"/>
            <a:ext cx="2928938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97916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FCC83-7FF5-4C6A-8511-7255B1D8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8125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1430">
            <a:solidFill>
              <a:srgbClr val="D9534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风险核验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34F"/>
                </a:solidFill>
                <a:latin typeface="Microsoft YaHei"/>
                <a:ea typeface="Microsoft YaHei"/>
                <a:cs typeface="Microsoft YaHei"/>
              </a:rPr>
              <a:t>执行重大负面风险门</a:t>
            </a:r>
          </a:p>
        </p:txBody>
      </p:sp>
      <p:cxnSp>
        <p:nvCxnSpPr>
          <p:cNvPr id="49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2000250"/>
            <a:ext cx="4881563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534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44552-654E-4E1A-A161-E203F63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4762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11430">
            <a:solidFill>
              <a:srgbClr val="0E3F8C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校准、排序与审计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检查时间、血缘、版本、权限和风险状态</a:t>
            </a:r>
          </a:p>
        </p:txBody>
      </p:sp>
      <p:cxnSp>
        <p:nvCxnSpPr>
          <p:cNvPr id="51" name=""/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214438" y="3286125"/>
            <a:ext cx="4881563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167063" y="3286125"/>
            <a:ext cx="2928938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119688" y="3286125"/>
            <a:ext cx="976313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096000" y="3286125"/>
            <a:ext cx="976313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096000" y="3286125"/>
            <a:ext cx="2928938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096000" y="3286125"/>
            <a:ext cx="4881563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BD9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63436-2C42-4D40-B3BD-66D68654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9D8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EA092-96FD-4611-9EA4-67B08AB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9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统一任务合同：快照ID、输入哈希、证据ID、模型版本、状态和错误码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8DDB1-F732-49F0-8AD7-116AFF33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538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7620">
            <a:solidFill>
              <a:srgbClr val="C9D8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0A976-5F1E-43E4-8987-28DF58DB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34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  <a:cs typeface="Microsoft YaHei"/>
              </a:rPr>
              <a:t>多智能体分别执行个股、板块和前瞻事件任务；审计链保证四项输出都能复算、追溯和回滚</a:t>
            </a:r>
          </a:p>
        </p:txBody>
      </p:sp>
    </p:spTree>
    <p:extLst>
      <p:ext uri="{BB962C8B-B14F-4D97-AF65-F5344CB8AC3E}">
        <p14:creationId xmlns:p14="http://schemas.microsoft.com/office/powerpoint/2010/main" val="1648718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2026-09-22T04:52:39.3860000Z</dcterms:created>
  <dcterms:modified xsi:type="dcterms:W3CDTF">2026-09-22T04:52:39.3860000Z</dcterms:modified>
</coreProperties>
</file>