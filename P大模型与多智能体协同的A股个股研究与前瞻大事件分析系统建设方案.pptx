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52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F887041-05EA-4F1C-B92A-4EB86BB55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F685E1B9-2968-44A8-97CD-294AA0E4F9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AA4E4820-DA1B-4640-91AD-F9635902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D2291BA-CB35-4EA3-ADD8-5954EDADF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773FEE1-1A4B-409E-9348-0EACC7321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C02503B-1B97-42C9-88D3-04D7B129A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244C03A9-580F-4FDE-99FE-7EDB6EF90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4DF3C18E-73E6-41D1-B3D3-988A9097AA2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903D6EE-1B95-49A7-9C3D-9DFB9A329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C31A8ED-32AF-401D-9C96-1FCD5D38B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大模型与多智能体协同的">
            <a:extLst>
              <a:ext uri="{FF2B5EF4-FFF2-40B4-BE49-F238E27FC236}">
                <a16:creationId xmlns:a16="http://schemas.microsoft.com/office/drawing/2014/main" id="{4306A598-4E76-41B8-9C0E-BBE77C1E8D0D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42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42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rPr>
              <a:t>大模型与多智能体协同的</a:t>
            </a:r>
          </a:p>
        </p:txBody>
      </p:sp>
      <p:sp>
        <p:nvSpPr>
          <p:cNvPr id="2" name="A股个股研究与前瞻大事件分析系统">
            <a:extLst>
              <a:ext uri="{FF2B5EF4-FFF2-40B4-BE49-F238E27FC236}">
                <a16:creationId xmlns:a16="http://schemas.microsoft.com/office/drawing/2014/main" id="{D4A6745E-5094-4E0C-B791-4DACE7AAEB26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42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42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rPr>
              <a:t>A股个股研究与前瞻大事件分析系统</a:t>
            </a:r>
          </a:p>
        </p:txBody>
      </p:sp>
      <p:sp>
        <p:nvSpPr>
          <p:cNvPr id="3" name="建设方案">
            <a:extLst>
              <a:ext uri="{FF2B5EF4-FFF2-40B4-BE49-F238E27FC236}">
                <a16:creationId xmlns:a16="http://schemas.microsoft.com/office/drawing/2014/main" id="{16BBAE57-DF85-4A53-934F-C63372937A81}"/>
              </a:ext>
            </a:extLst>
          </p:cNvPr>
          <p:cNvSpPr>
            <a:spLocks noGrp="1"/>
          </p:cNvSpPr>
          <p:nvPr/>
        </p:nvSpPr>
        <p:spPr>
          <a:xfrm>
            <a:off x="609600" y="3448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42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42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rPr>
              <a:t>建设方案</a:t>
            </a:r>
          </a:p>
        </p:txBody>
      </p:sp>
      <p:sp>
        <p:nvSpPr>
          <p:cNvPr id="4" name="总体设计、处理原理与运行流程">
            <a:extLst>
              <a:ext uri="{FF2B5EF4-FFF2-40B4-BE49-F238E27FC236}">
                <a16:creationId xmlns:a16="http://schemas.microsoft.com/office/drawing/2014/main" id="{9E4D1C35-5912-45F9-A58A-B4212F7748ED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21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rPr>
              <a:t>总体设计、处理原理与运行流程</a:t>
            </a:r>
          </a:p>
        </p:txBody>
      </p:sp>
      <p:sp>
        <p:nvSpPr>
          <p:cNvPr id="5" name="2026年10月">
            <a:extLst>
              <a:ext uri="{FF2B5EF4-FFF2-40B4-BE49-F238E27FC236}">
                <a16:creationId xmlns:a16="http://schemas.microsoft.com/office/drawing/2014/main" id="{DEA8F0FF-156E-4D16-B294-1B85C3140D7A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75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575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rPr>
              <a:t>2026年10月</a:t>
            </a:r>
          </a:p>
        </p:txBody>
      </p:sp>
    </p:spTree>
    <p:extLst>
      <p:ext uri="{BB962C8B-B14F-4D97-AF65-F5344CB8AC3E}">
        <p14:creationId xmlns:p14="http://schemas.microsoft.com/office/powerpoint/2010/main" val="333907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业务目标与两条研究主线">
            <a:extLst>
              <a:ext uri="{FF2B5EF4-FFF2-40B4-BE49-F238E27FC236}">
                <a16:creationId xmlns:a16="http://schemas.microsoft.com/office/drawing/2014/main" id="{5F7EF170-E517-42C0-8ED6-DB4848D37CF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rPr>
              <a:t>业务目标与两条研究主线</a:t>
            </a:r>
          </a:p>
        </p:txBody>
      </p:sp>
      <p:sp>
        <p:nvSpPr>
          <p:cNvPr id="2" name="2">
            <a:extLst>
              <a:ext uri="{FF2B5EF4-FFF2-40B4-BE49-F238E27FC236}">
                <a16:creationId xmlns:a16="http://schemas.microsoft.com/office/drawing/2014/main" id="{F0E9CDE9-888D-44C1-BA3F-A21B7AF52B0A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" name="系统围绕个股研究与前瞻大事件分析，分别形成可核验的研">
            <a:extLst>
              <a:ext uri="{FF2B5EF4-FFF2-40B4-BE49-F238E27FC236}">
                <a16:creationId xmlns:a16="http://schemas.microsoft.com/office/drawing/2014/main" id="{F572B83D-B3DC-4267-8C68-C8657E5A071C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17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系统围绕个股研究与前瞻大事件分析，分别形成可核验的研究成果。</a:t>
            </a:r>
          </a:p>
        </p:txBody>
      </p:sp>
      <p:graphicFrame>
        <p:nvGraphicFramePr>
          <p:cNvPr id="4" name="内容比较表">
            <a:extLst>
              <a:ext uri="{FF2B5EF4-FFF2-40B4-BE49-F238E27FC236}">
                <a16:creationId xmlns:a16="http://schemas.microsoft.com/office/drawing/2014/main" id="{678DDC53-88B1-4435-9D89-70CB94AC169B}"/>
              </a:ext>
            </a:extLst>
          </p:cNvPr>
          <p:cNvGraphicFramePr/>
          <p:nvPr/>
        </p:nvGraphicFramePr>
        <p:xfrm>
          <a:off x="609600" y="2400300"/>
          <a:ext cx="10972800" cy="287655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业务主线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解决的问题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输出成果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110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个股研究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哪些股票值得重点研究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如何比较、排序和核验风险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0至10只重点研究观察股票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参考概率、排序及公司研究卡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110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前瞻大事件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哪些未来重大事项值得提前关注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重要程度、发生时间和依据是什么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0至10项独立前瞻事件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四维等级、时间窗与状态跟踪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直接连接符 4">
            <a:extLst>
              <a:ext uri="{FF2B5EF4-FFF2-40B4-BE49-F238E27FC236}">
                <a16:creationId xmlns:a16="http://schemas.microsoft.com/office/drawing/2014/main" id="{DAEECD7E-4188-4D9E-85E0-F53881357648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10972800" cy="0"/>
          </a:xfrm>
          <a:prstGeom prst="line">
            <a:avLst/>
          </a:prstGeom>
          <a:noFill/>
          <a:ln w="13335">
            <a:solidFill>
              <a:srgbClr val="203C59"/>
            </a:solidFill>
          </a:ln>
        </p:spPr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56DFC09E-9279-48CC-A383-75D6EA4C5F34}"/>
              </a:ext>
            </a:extLst>
          </p:cNvPr>
          <p:cNvSpPr>
            <a:spLocks noGrp="1"/>
          </p:cNvSpPr>
          <p:nvPr/>
        </p:nvSpPr>
        <p:spPr>
          <a:xfrm>
            <a:off x="609600" y="2914650"/>
            <a:ext cx="10972800" cy="0"/>
          </a:xfrm>
          <a:prstGeom prst="line">
            <a:avLst/>
          </a:prstGeom>
          <a:noFill/>
          <a:ln w="9525">
            <a:solidFill>
              <a:srgbClr val="203C59"/>
            </a:solidFill>
          </a:ln>
        </p:spPr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C7543E84-08BB-4BDE-91C4-D593892FA50D}"/>
              </a:ext>
            </a:extLst>
          </p:cNvPr>
          <p:cNvSpPr>
            <a:spLocks noGrp="1"/>
          </p:cNvSpPr>
          <p:nvPr/>
        </p:nvSpPr>
        <p:spPr>
          <a:xfrm>
            <a:off x="609600" y="5276850"/>
            <a:ext cx="10972800" cy="0"/>
          </a:xfrm>
          <a:prstGeom prst="line">
            <a:avLst/>
          </a:prstGeom>
          <a:noFill/>
          <a:ln w="13335">
            <a:solidFill>
              <a:srgbClr val="203C59"/>
            </a:solidFill>
          </a:ln>
        </p:spPr>
      </p:sp>
      <p:sp>
        <p:nvSpPr>
          <p:cNvPr id="8" name="两条主线共享数据与证据基础，分别处理、分别输出。未兑">
            <a:extLst>
              <a:ext uri="{FF2B5EF4-FFF2-40B4-BE49-F238E27FC236}">
                <a16:creationId xmlns:a16="http://schemas.microsoft.com/office/drawing/2014/main" id="{C078C7A9-537E-4A2E-A244-FC62321100D3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 err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两条主线共享数据与证据基础，分别处理、分别输出</a:t>
            </a:r>
            <a:r>
              <a:rPr sz="1725" b="0" dirty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1725" b="0" dirty="0">
              <a:solidFill>
                <a:srgbClr val="303942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12000"/>
              </a:lnSpc>
              <a:buNone/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endParaRPr sz="1725" b="0" dirty="0">
              <a:solidFill>
                <a:srgbClr val="303942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80729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91124D82-2835-42D6-A17E-436389451359}"/>
              </a:ext>
            </a:extLst>
          </p:cNvPr>
          <p:cNvCxnSpPr>
            <a:stCxn id="13" idx="2"/>
            <a:endCxn id="15" idx="0"/>
          </p:cNvCxnSpPr>
          <p:nvPr/>
        </p:nvCxnSpPr>
        <p:spPr>
          <a:xfrm>
            <a:off x="9067800" y="4838700"/>
            <a:ext cx="0" cy="36195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2A90304-22A0-4454-BCDF-B462589073D9}"/>
              </a:ext>
            </a:extLst>
          </p:cNvPr>
          <p:cNvCxnSpPr>
            <a:stCxn id="11" idx="2"/>
            <a:endCxn id="13" idx="0"/>
          </p:cNvCxnSpPr>
          <p:nvPr/>
        </p:nvCxnSpPr>
        <p:spPr>
          <a:xfrm>
            <a:off x="9067800" y="3648075"/>
            <a:ext cx="0" cy="36195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AB7E7FDC-B045-42D4-941D-C0B24912CEBF}"/>
              </a:ext>
            </a:extLst>
          </p:cNvPr>
          <p:cNvCxnSpPr>
            <a:stCxn id="12" idx="2"/>
            <a:endCxn id="14" idx="0"/>
          </p:cNvCxnSpPr>
          <p:nvPr/>
        </p:nvCxnSpPr>
        <p:spPr>
          <a:xfrm>
            <a:off x="3124200" y="4838700"/>
            <a:ext cx="0" cy="36195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DBCF8513-13E2-41F0-AE1A-0F839B152A2C}"/>
              </a:ext>
            </a:extLst>
          </p:cNvPr>
          <p:cNvCxnSpPr>
            <a:stCxn id="10" idx="2"/>
            <a:endCxn id="12" idx="0"/>
          </p:cNvCxnSpPr>
          <p:nvPr/>
        </p:nvCxnSpPr>
        <p:spPr>
          <a:xfrm>
            <a:off x="3124200" y="3648075"/>
            <a:ext cx="0" cy="36195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84F12C2B-0156-46E8-9C8B-AEADA26178FA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7829550" y="1676400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CA0A07A1-1065-428E-AD1E-851C071B6939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076700" y="1676400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sp>
        <p:nvSpPr>
          <p:cNvPr id="25" name="总体处理流程">
            <a:extLst>
              <a:ext uri="{FF2B5EF4-FFF2-40B4-BE49-F238E27FC236}">
                <a16:creationId xmlns:a16="http://schemas.microsoft.com/office/drawing/2014/main" id="{BFEFC969-8280-4450-9D11-0981C5F799A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rPr>
              <a:t>总体处理流程</a:t>
            </a:r>
          </a:p>
        </p:txBody>
      </p:sp>
      <p:sp>
        <p:nvSpPr>
          <p:cNvPr id="2" name="3">
            <a:extLst>
              <a:ext uri="{FF2B5EF4-FFF2-40B4-BE49-F238E27FC236}">
                <a16:creationId xmlns:a16="http://schemas.microsoft.com/office/drawing/2014/main" id="{BC136912-AE21-45E2-9B1D-2C4D18495021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" name="多源数据">
            <a:extLst>
              <a:ext uri="{FF2B5EF4-FFF2-40B4-BE49-F238E27FC236}">
                <a16:creationId xmlns:a16="http://schemas.microsoft.com/office/drawing/2014/main" id="{2F66FCC3-9627-491C-ADCC-CA62DC1B11D2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3467100" cy="83820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多源数据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投研、行情与财务</a:t>
            </a:r>
          </a:p>
        </p:txBody>
      </p:sp>
      <p:sp>
        <p:nvSpPr>
          <p:cNvPr id="4" name="统一事件化">
            <a:extLst>
              <a:ext uri="{FF2B5EF4-FFF2-40B4-BE49-F238E27FC236}">
                <a16:creationId xmlns:a16="http://schemas.microsoft.com/office/drawing/2014/main" id="{02FFA0E8-EF70-417E-930E-E8DE0F1B56D2}"/>
              </a:ext>
            </a:extLst>
          </p:cNvPr>
          <p:cNvSpPr>
            <a:spLocks noGrp="1"/>
          </p:cNvSpPr>
          <p:nvPr/>
        </p:nvSpPr>
        <p:spPr>
          <a:xfrm>
            <a:off x="4362450" y="1257300"/>
            <a:ext cx="3467100" cy="83820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统一事件化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时间、实体与证据</a:t>
            </a:r>
          </a:p>
        </p:txBody>
      </p:sp>
      <p:sp>
        <p:nvSpPr>
          <p:cNvPr id="5" name="标准对象与路由">
            <a:extLst>
              <a:ext uri="{FF2B5EF4-FFF2-40B4-BE49-F238E27FC236}">
                <a16:creationId xmlns:a16="http://schemas.microsoft.com/office/drawing/2014/main" id="{8FC9AE18-DD10-42A3-AC5B-41EE6D600C0D}"/>
              </a:ext>
            </a:extLst>
          </p:cNvPr>
          <p:cNvSpPr>
            <a:spLocks noGrp="1"/>
          </p:cNvSpPr>
          <p:nvPr/>
        </p:nvSpPr>
        <p:spPr>
          <a:xfrm>
            <a:off x="8115300" y="1257300"/>
            <a:ext cx="3467100" cy="83820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标准对象与路由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区分事实和未来预期</a:t>
            </a:r>
          </a:p>
        </p:txBody>
      </p:sp>
      <p:sp>
        <p:nvSpPr>
          <p:cNvPr id="8" name="个股研究主线">
            <a:extLst>
              <a:ext uri="{FF2B5EF4-FFF2-40B4-BE49-F238E27FC236}">
                <a16:creationId xmlns:a16="http://schemas.microsoft.com/office/drawing/2014/main" id="{8DF08CA0-14C2-45AA-BF58-1E1C4BE4F969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2286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rPr>
              <a:t>个股研究主线</a:t>
            </a:r>
          </a:p>
        </p:txBody>
      </p:sp>
      <p:sp>
        <p:nvSpPr>
          <p:cNvPr id="9" name="前瞻大事件主线">
            <a:extLst>
              <a:ext uri="{FF2B5EF4-FFF2-40B4-BE49-F238E27FC236}">
                <a16:creationId xmlns:a16="http://schemas.microsoft.com/office/drawing/2014/main" id="{B0F3DED0-59BA-46B5-A889-87F8C79D670D}"/>
              </a:ext>
            </a:extLst>
          </p:cNvPr>
          <p:cNvSpPr>
            <a:spLocks noGrp="1"/>
          </p:cNvSpPr>
          <p:nvPr/>
        </p:nvSpPr>
        <p:spPr>
          <a:xfrm>
            <a:off x="6553200" y="2381250"/>
            <a:ext cx="2286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rPr>
              <a:t>前瞻大事件主线</a:t>
            </a:r>
          </a:p>
        </p:txBody>
      </p:sp>
      <p:sp>
        <p:nvSpPr>
          <p:cNvPr id="10" name="P0候选资格检查">
            <a:extLst>
              <a:ext uri="{FF2B5EF4-FFF2-40B4-BE49-F238E27FC236}">
                <a16:creationId xmlns:a16="http://schemas.microsoft.com/office/drawing/2014/main" id="{3F8C78DA-9FA1-4250-8600-A64D729B4D78}"/>
              </a:ext>
            </a:extLst>
          </p:cNvPr>
          <p:cNvSpPr>
            <a:spLocks noGrp="1"/>
          </p:cNvSpPr>
          <p:nvPr/>
        </p:nvSpPr>
        <p:spPr>
          <a:xfrm>
            <a:off x="609600" y="2905125"/>
            <a:ext cx="5029200" cy="74295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P0候选资格检查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事件卡、公司关系与业务证据</a:t>
            </a:r>
          </a:p>
        </p:txBody>
      </p:sp>
      <p:sp>
        <p:nvSpPr>
          <p:cNvPr id="11" name="前瞻事项发现与核验">
            <a:extLst>
              <a:ext uri="{FF2B5EF4-FFF2-40B4-BE49-F238E27FC236}">
                <a16:creationId xmlns:a16="http://schemas.microsoft.com/office/drawing/2014/main" id="{E66DCAE6-9F75-4DC2-807F-15D319F3C052}"/>
              </a:ext>
            </a:extLst>
          </p:cNvPr>
          <p:cNvSpPr>
            <a:spLocks noGrp="1"/>
          </p:cNvSpPr>
          <p:nvPr/>
        </p:nvSpPr>
        <p:spPr>
          <a:xfrm>
            <a:off x="6553200" y="2905125"/>
            <a:ext cx="5029200" cy="74295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前瞻事项发现与核验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语义理解、聚类去重与预期事件卡</a:t>
            </a:r>
          </a:p>
        </p:txBody>
      </p:sp>
      <p:sp>
        <p:nvSpPr>
          <p:cNvPr id="12" name="五组特征与量化模型">
            <a:extLst>
              <a:ext uri="{FF2B5EF4-FFF2-40B4-BE49-F238E27FC236}">
                <a16:creationId xmlns:a16="http://schemas.microsoft.com/office/drawing/2014/main" id="{35D5EEE3-8C46-4B86-95CF-85AC5292E3D6}"/>
              </a:ext>
            </a:extLst>
          </p:cNvPr>
          <p:cNvSpPr>
            <a:spLocks noGrp="1"/>
          </p:cNvSpPr>
          <p:nvPr/>
        </p:nvSpPr>
        <p:spPr>
          <a:xfrm>
            <a:off x="609600" y="4010025"/>
            <a:ext cx="5029200" cy="828675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五组特征与量化模型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上涨、正超额收益及下行风险参考</a:t>
            </a:r>
          </a:p>
        </p:txBody>
      </p:sp>
      <p:sp>
        <p:nvSpPr>
          <p:cNvPr id="13" name="四维分级与排序">
            <a:extLst>
              <a:ext uri="{FF2B5EF4-FFF2-40B4-BE49-F238E27FC236}">
                <a16:creationId xmlns:a16="http://schemas.microsoft.com/office/drawing/2014/main" id="{2507B71A-DD30-495D-BE38-8E7583221D7D}"/>
              </a:ext>
            </a:extLst>
          </p:cNvPr>
          <p:cNvSpPr>
            <a:spLocks noGrp="1"/>
          </p:cNvSpPr>
          <p:nvPr/>
        </p:nvSpPr>
        <p:spPr>
          <a:xfrm>
            <a:off x="6553200" y="4010025"/>
            <a:ext cx="5029200" cy="828675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四维分级与排序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重要性、发生可能性、新颖度和紧迫度</a:t>
            </a:r>
          </a:p>
        </p:txBody>
      </p:sp>
      <p:sp>
        <p:nvSpPr>
          <p:cNvPr id="14" name="研究复核与观察名单">
            <a:extLst>
              <a:ext uri="{FF2B5EF4-FFF2-40B4-BE49-F238E27FC236}">
                <a16:creationId xmlns:a16="http://schemas.microsoft.com/office/drawing/2014/main" id="{4E268E29-5EB2-4B80-B3F5-6EAD4955822C}"/>
              </a:ext>
            </a:extLst>
          </p:cNvPr>
          <p:cNvSpPr>
            <a:spLocks noGrp="1"/>
          </p:cNvSpPr>
          <p:nvPr/>
        </p:nvSpPr>
        <p:spPr>
          <a:xfrm>
            <a:off x="609600" y="5200650"/>
            <a:ext cx="5029200" cy="828675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研究复核与观察名单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P2/P3与风险门，发布参考概率及排序</a:t>
            </a:r>
          </a:p>
        </p:txBody>
      </p:sp>
      <p:sp>
        <p:nvSpPr>
          <p:cNvPr id="15" name="状态跟踪与独立榜单">
            <a:extLst>
              <a:ext uri="{FF2B5EF4-FFF2-40B4-BE49-F238E27FC236}">
                <a16:creationId xmlns:a16="http://schemas.microsoft.com/office/drawing/2014/main" id="{972E408A-DEB9-41CF-A478-422353245944}"/>
              </a:ext>
            </a:extLst>
          </p:cNvPr>
          <p:cNvSpPr>
            <a:spLocks noGrp="1"/>
          </p:cNvSpPr>
          <p:nvPr/>
        </p:nvSpPr>
        <p:spPr>
          <a:xfrm>
            <a:off x="6553200" y="5200650"/>
            <a:ext cx="5029200" cy="828675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状态跟踪与独立榜单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预计时间、证据更新、兑现或失效记录</a:t>
            </a: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85FA67BC-B979-4C2A-A128-5EA1D7705413}"/>
              </a:ext>
            </a:extLst>
          </p:cNvPr>
          <p:cNvSpPr>
            <a:spLocks noGrp="1"/>
          </p:cNvSpPr>
          <p:nvPr/>
        </p:nvSpPr>
        <p:spPr>
          <a:xfrm>
            <a:off x="9848850" y="2095500"/>
            <a:ext cx="0" cy="142875"/>
          </a:xfrm>
          <a:prstGeom prst="line">
            <a:avLst/>
          </a:prstGeom>
          <a:noFill/>
          <a:ln w="14288">
            <a:solidFill>
              <a:srgbClr val="65717D"/>
            </a:solidFill>
          </a:ln>
        </p:spPr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735374D8-9E90-46CD-8954-B4DBA3BF0017}"/>
              </a:ext>
            </a:extLst>
          </p:cNvPr>
          <p:cNvSpPr>
            <a:spLocks noGrp="1"/>
          </p:cNvSpPr>
          <p:nvPr/>
        </p:nvSpPr>
        <p:spPr>
          <a:xfrm>
            <a:off x="3124200" y="2238375"/>
            <a:ext cx="6724650" cy="0"/>
          </a:xfrm>
          <a:prstGeom prst="line">
            <a:avLst/>
          </a:prstGeom>
          <a:noFill/>
          <a:ln w="14288">
            <a:solidFill>
              <a:srgbClr val="65717D"/>
            </a:solidFill>
          </a:ln>
        </p:spPr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CC6D32FE-C743-46CA-8351-70A8AD76490F}"/>
              </a:ext>
            </a:extLst>
          </p:cNvPr>
          <p:cNvCxnSpPr/>
          <p:nvPr/>
        </p:nvCxnSpPr>
        <p:spPr>
          <a:xfrm>
            <a:off x="3124200" y="2238375"/>
            <a:ext cx="0" cy="66675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D59C1FEB-E23F-40EC-A068-7F2747DDAC24}"/>
              </a:ext>
            </a:extLst>
          </p:cNvPr>
          <p:cNvCxnSpPr/>
          <p:nvPr/>
        </p:nvCxnSpPr>
        <p:spPr>
          <a:xfrm>
            <a:off x="9067800" y="2238375"/>
            <a:ext cx="0" cy="66675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sp>
        <p:nvSpPr>
          <p:cNvPr id="24" name="未兑现事项只进入前瞻榜。正式兑现后，新增事实仍须按既">
            <a:extLst>
              <a:ext uri="{FF2B5EF4-FFF2-40B4-BE49-F238E27FC236}">
                <a16:creationId xmlns:a16="http://schemas.microsoft.com/office/drawing/2014/main" id="{2842FE20-248C-4D04-AD6E-E3551E31DD43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未兑现事项只进入前瞻榜。正式兑现后，新增事实仍须按既定规则重新检查候选资格。</a:t>
            </a:r>
          </a:p>
        </p:txBody>
      </p:sp>
    </p:spTree>
    <p:extLst>
      <p:ext uri="{BB962C8B-B14F-4D97-AF65-F5344CB8AC3E}">
        <p14:creationId xmlns:p14="http://schemas.microsoft.com/office/powerpoint/2010/main" val="1877120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数据基础与职责分工">
            <a:extLst>
              <a:ext uri="{FF2B5EF4-FFF2-40B4-BE49-F238E27FC236}">
                <a16:creationId xmlns:a16="http://schemas.microsoft.com/office/drawing/2014/main" id="{85F87265-E1E6-4338-9E27-E2077421F09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rPr>
              <a:t>数据基础与职责分工</a:t>
            </a:r>
          </a:p>
        </p:txBody>
      </p:sp>
      <p:sp>
        <p:nvSpPr>
          <p:cNvPr id="2" name="4">
            <a:extLst>
              <a:ext uri="{FF2B5EF4-FFF2-40B4-BE49-F238E27FC236}">
                <a16:creationId xmlns:a16="http://schemas.microsoft.com/office/drawing/2014/main" id="{89111755-D33E-4729-BA03-AC972EC5B20C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graphicFrame>
        <p:nvGraphicFramePr>
          <p:cNvPr id="3" name="内容比较表">
            <a:extLst>
              <a:ext uri="{FF2B5EF4-FFF2-40B4-BE49-F238E27FC236}">
                <a16:creationId xmlns:a16="http://schemas.microsoft.com/office/drawing/2014/main" id="{FEF20D94-2238-4889-A85D-3C01A9BD3E49}"/>
              </a:ext>
            </a:extLst>
          </p:cNvPr>
          <p:cNvGraphicFramePr/>
          <p:nvPr/>
        </p:nvGraphicFramePr>
        <p:xfrm>
          <a:off x="609600" y="1485900"/>
          <a:ext cx="10972800" cy="4324350"/>
        </p:xfrm>
        <a:graphic>
          <a:graphicData uri="http://schemas.openxmlformats.org/drawingml/2006/table">
            <a:tbl>
              <a:tblPr/>
              <a:tblGrid>
                <a:gridCol w="215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数据来源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主要职责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使用边界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GANGTISE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从首席观点、日程、调研与会议纪要中发现新增线索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公司级证据服务候选检查，未来事项单独处理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互动问答 qa*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识别公司新增确认、否认及管理层口径变化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普通提问和模板回复不创建候选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TLDB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提供证券状态、行情、资金、财务和风险验证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单一行情高分不能替代候选来源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THSDB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核验行业、概念、产业关系与公司真实业务联系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已有合格事件下才允许受控一跳扩展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直接连接符 3">
            <a:extLst>
              <a:ext uri="{FF2B5EF4-FFF2-40B4-BE49-F238E27FC236}">
                <a16:creationId xmlns:a16="http://schemas.microsoft.com/office/drawing/2014/main" id="{BBE4ED7D-68F7-444E-808E-0C229563E223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10972800" cy="0"/>
          </a:xfrm>
          <a:prstGeom prst="line">
            <a:avLst/>
          </a:prstGeom>
          <a:noFill/>
          <a:ln w="13335">
            <a:solidFill>
              <a:srgbClr val="203C59"/>
            </a:solidFill>
          </a:ln>
        </p:spPr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9C743B99-C44A-4731-8ABD-BAB7DA087507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10972800" cy="0"/>
          </a:xfrm>
          <a:prstGeom prst="line">
            <a:avLst/>
          </a:prstGeom>
          <a:noFill/>
          <a:ln w="9525">
            <a:solidFill>
              <a:srgbClr val="203C59"/>
            </a:solidFill>
          </a:ln>
        </p:spPr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F59B0DA3-9F75-4EC6-BBC9-463A411272DA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972800" cy="0"/>
          </a:xfrm>
          <a:prstGeom prst="line">
            <a:avLst/>
          </a:prstGeom>
          <a:noFill/>
          <a:ln w="13335">
            <a:solidFill>
              <a:srgbClr val="203C59"/>
            </a:solidFill>
          </a:ln>
        </p:spPr>
      </p:sp>
      <p:sp>
        <p:nvSpPr>
          <p:cNvPr id="7" name="其他辅助表用于分析师可靠性、共识与语义支持，不扩展为">
            <a:extLst>
              <a:ext uri="{FF2B5EF4-FFF2-40B4-BE49-F238E27FC236}">
                <a16:creationId xmlns:a16="http://schemas.microsoft.com/office/drawing/2014/main" id="{B31626C5-60D6-495A-8E17-E7A98C3D5F64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其他辅助表用于分析师可靠性、共识与语义支持，不扩展为并列候选入口。</a:t>
            </a:r>
          </a:p>
        </p:txBody>
      </p:sp>
    </p:spTree>
    <p:extLst>
      <p:ext uri="{BB962C8B-B14F-4D97-AF65-F5344CB8AC3E}">
        <p14:creationId xmlns:p14="http://schemas.microsoft.com/office/powerpoint/2010/main" val="1580781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DD7AADAE-CD84-4C3C-9AAA-215D2A6CAF0B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8767763" y="2124075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297CA036-71A2-48B5-BFA5-E21C404FE081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5953126" y="2124075"/>
            <a:ext cx="285749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F07F775-0268-4092-891D-E7186A5F1DC5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3138488" y="2124075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sp>
        <p:nvSpPr>
          <p:cNvPr id="15" name="原始信息的标准事件处理">
            <a:extLst>
              <a:ext uri="{FF2B5EF4-FFF2-40B4-BE49-F238E27FC236}">
                <a16:creationId xmlns:a16="http://schemas.microsoft.com/office/drawing/2014/main" id="{822762BC-CA33-41E0-889E-BB2D7C7B784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rPr>
              <a:t>原始信息的标准事件处理</a:t>
            </a:r>
          </a:p>
        </p:txBody>
      </p:sp>
      <p:sp>
        <p:nvSpPr>
          <p:cNvPr id="2" name="5">
            <a:extLst>
              <a:ext uri="{FF2B5EF4-FFF2-40B4-BE49-F238E27FC236}">
                <a16:creationId xmlns:a16="http://schemas.microsoft.com/office/drawing/2014/main" id="{21B6F7C3-4E80-4B45-B785-224F498C2FAF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" name="保存原始记录">
            <a:extLst>
              <a:ext uri="{FF2B5EF4-FFF2-40B4-BE49-F238E27FC236}">
                <a16:creationId xmlns:a16="http://schemas.microsoft.com/office/drawing/2014/main" id="{D40D6967-4BFC-4946-B694-D31F603B7E6B}"/>
              </a:ext>
            </a:extLst>
          </p:cNvPr>
          <p:cNvSpPr>
            <a:spLocks noGrp="1"/>
          </p:cNvSpPr>
          <p:nvPr/>
        </p:nvSpPr>
        <p:spPr>
          <a:xfrm>
            <a:off x="609600" y="1543050"/>
            <a:ext cx="2528888" cy="116205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保存原始记录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正文、字段和版本</a:t>
            </a:r>
          </a:p>
        </p:txBody>
      </p:sp>
      <p:sp>
        <p:nvSpPr>
          <p:cNvPr id="4" name="时间与实体校验">
            <a:extLst>
              <a:ext uri="{FF2B5EF4-FFF2-40B4-BE49-F238E27FC236}">
                <a16:creationId xmlns:a16="http://schemas.microsoft.com/office/drawing/2014/main" id="{5E28B3DC-5FD5-48D7-AF12-1AEF3B82B6D5}"/>
              </a:ext>
            </a:extLst>
          </p:cNvPr>
          <p:cNvSpPr>
            <a:spLocks noGrp="1"/>
          </p:cNvSpPr>
          <p:nvPr/>
        </p:nvSpPr>
        <p:spPr>
          <a:xfrm>
            <a:off x="3424238" y="1543050"/>
            <a:ext cx="2528888" cy="116205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时间与实体校验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可见时间与证券主键</a:t>
            </a:r>
          </a:p>
        </p:txBody>
      </p:sp>
      <p:sp>
        <p:nvSpPr>
          <p:cNvPr id="5" name="文本理解与证据门">
            <a:extLst>
              <a:ext uri="{FF2B5EF4-FFF2-40B4-BE49-F238E27FC236}">
                <a16:creationId xmlns:a16="http://schemas.microsoft.com/office/drawing/2014/main" id="{57B1A4F0-84C2-4348-AFAA-A37695CCCFD5}"/>
              </a:ext>
            </a:extLst>
          </p:cNvPr>
          <p:cNvSpPr>
            <a:spLocks noGrp="1"/>
          </p:cNvSpPr>
          <p:nvPr/>
        </p:nvSpPr>
        <p:spPr>
          <a:xfrm>
            <a:off x="6238875" y="1543050"/>
            <a:ext cx="2528888" cy="116205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文本理解与证据门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区分事实、观点和未知</a:t>
            </a:r>
          </a:p>
        </p:txBody>
      </p:sp>
      <p:sp>
        <p:nvSpPr>
          <p:cNvPr id="6" name="事件聚类与路由">
            <a:extLst>
              <a:ext uri="{FF2B5EF4-FFF2-40B4-BE49-F238E27FC236}">
                <a16:creationId xmlns:a16="http://schemas.microsoft.com/office/drawing/2014/main" id="{1934211E-82B3-4B93-AD6E-B2BC159E9520}"/>
              </a:ext>
            </a:extLst>
          </p:cNvPr>
          <p:cNvSpPr>
            <a:spLocks noGrp="1"/>
          </p:cNvSpPr>
          <p:nvPr/>
        </p:nvSpPr>
        <p:spPr>
          <a:xfrm>
            <a:off x="9053513" y="1543050"/>
            <a:ext cx="2528888" cy="116205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事件聚类与路由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形成标准对象</a:t>
            </a:r>
          </a:p>
        </p:txBody>
      </p:sp>
      <p:sp>
        <p:nvSpPr>
          <p:cNvPr id="10" name="确定性程序与大模型分工">
            <a:extLst>
              <a:ext uri="{FF2B5EF4-FFF2-40B4-BE49-F238E27FC236}">
                <a16:creationId xmlns:a16="http://schemas.microsoft.com/office/drawing/2014/main" id="{FD43980F-CC43-4B03-AF51-BA6B72FDE9F3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确定性程序与大模型分工</a:t>
            </a:r>
          </a:p>
        </p:txBody>
      </p:sp>
      <p:sp>
        <p:nvSpPr>
          <p:cNvPr id="11" name="证券代码、日期、金额和枚举字段由程序解析。本地大模型">
            <a:extLst>
              <a:ext uri="{FF2B5EF4-FFF2-40B4-BE49-F238E27FC236}">
                <a16:creationId xmlns:a16="http://schemas.microsoft.com/office/drawing/2014/main" id="{3588FBCF-9618-430B-BA33-72D69A305B1D}"/>
              </a:ext>
            </a:extLst>
          </p:cNvPr>
          <p:cNvSpPr>
            <a:spLocks noGrp="1"/>
          </p:cNvSpPr>
          <p:nvPr/>
        </p:nvSpPr>
        <p:spPr>
          <a:xfrm>
            <a:off x="609600" y="356235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证券代码、日期、金额和枚举字段由程序解析。本地大模型结合上下文识别主体、动作、影响方向和来源角色，并定位支持句。</a:t>
            </a:r>
          </a:p>
        </p:txBody>
      </p:sp>
      <p:sp>
        <p:nvSpPr>
          <p:cNvPr id="12" name="时间与证据约束">
            <a:extLst>
              <a:ext uri="{FF2B5EF4-FFF2-40B4-BE49-F238E27FC236}">
                <a16:creationId xmlns:a16="http://schemas.microsoft.com/office/drawing/2014/main" id="{87AF648D-1278-4648-B654-248EA2E48E76}"/>
              </a:ext>
            </a:extLst>
          </p:cNvPr>
          <p:cNvSpPr>
            <a:spLocks noGrp="1"/>
          </p:cNvSpPr>
          <p:nvPr/>
        </p:nvSpPr>
        <p:spPr>
          <a:xfrm>
            <a:off x="609600" y="456247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时间与证据约束</a:t>
            </a:r>
          </a:p>
        </p:txBody>
      </p:sp>
      <p:sp>
        <p:nvSpPr>
          <p:cNvPr id="13" name="仅使用截止时点前完整可见的信息。晚到旧内容不回填历史">
            <a:extLst>
              <a:ext uri="{FF2B5EF4-FFF2-40B4-BE49-F238E27FC236}">
                <a16:creationId xmlns:a16="http://schemas.microsoft.com/office/drawing/2014/main" id="{D893B3E6-FDFD-482B-9D20-9E44B13D71A0}"/>
              </a:ext>
            </a:extLst>
          </p:cNvPr>
          <p:cNvSpPr>
            <a:spLocks noGrp="1"/>
          </p:cNvSpPr>
          <p:nvPr/>
        </p:nvSpPr>
        <p:spPr>
          <a:xfrm>
            <a:off x="609600" y="4981575"/>
            <a:ext cx="109728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仅使用截止时点前完整可见的信息。晚到旧内容不回填历史，缺少原文支持的事项保留未知，来源冲突并列保存。</a:t>
            </a:r>
          </a:p>
        </p:txBody>
      </p:sp>
      <p:sp>
        <p:nvSpPr>
          <p:cNvPr id="14" name="后续模块读取同一份事件对象，避免重复解释和重复计算同">
            <a:extLst>
              <a:ext uri="{FF2B5EF4-FFF2-40B4-BE49-F238E27FC236}">
                <a16:creationId xmlns:a16="http://schemas.microsoft.com/office/drawing/2014/main" id="{B49BB0B7-F00B-4BF9-8709-FF85402B1664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后续模块读取同一份事件对象，避免重复解释和重复计算同一段原文。</a:t>
            </a:r>
          </a:p>
        </p:txBody>
      </p:sp>
    </p:spTree>
    <p:extLst>
      <p:ext uri="{BB962C8B-B14F-4D97-AF65-F5344CB8AC3E}">
        <p14:creationId xmlns:p14="http://schemas.microsoft.com/office/powerpoint/2010/main" val="1869600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数据入口的证据分工">
            <a:extLst>
              <a:ext uri="{FF2B5EF4-FFF2-40B4-BE49-F238E27FC236}">
                <a16:creationId xmlns:a16="http://schemas.microsoft.com/office/drawing/2014/main" id="{D80E5B0E-B656-470A-A847-41280EADC44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rPr>
              <a:t>数据入口的证据分工</a:t>
            </a:r>
          </a:p>
        </p:txBody>
      </p:sp>
      <p:sp>
        <p:nvSpPr>
          <p:cNvPr id="2" name="6">
            <a:extLst>
              <a:ext uri="{FF2B5EF4-FFF2-40B4-BE49-F238E27FC236}">
                <a16:creationId xmlns:a16="http://schemas.microsoft.com/office/drawing/2014/main" id="{CDA9F26A-906D-465C-AB5C-B51F5B65A59B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graphicFrame>
        <p:nvGraphicFramePr>
          <p:cNvPr id="3" name="内容比较表">
            <a:extLst>
              <a:ext uri="{FF2B5EF4-FFF2-40B4-BE49-F238E27FC236}">
                <a16:creationId xmlns:a16="http://schemas.microsoft.com/office/drawing/2014/main" id="{70C8FDAC-AC32-4707-8336-A3A5DA20F592}"/>
              </a:ext>
            </a:extLst>
          </p:cNvPr>
          <p:cNvGraphicFramePr/>
          <p:nvPr/>
        </p:nvGraphicFramePr>
        <p:xfrm>
          <a:off x="609600" y="1381125"/>
          <a:ext cx="10972800" cy="4419600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主要识别内容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处理去向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投研日程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何时可能出现新信息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通常进入观察，明确未来重大事项独立跟踪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公司调研纪要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订单、产能、客户和经营节奏变化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新增公司事实进入候选资格检查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电话或视频会议纪要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宏观、行业与公司的不同角色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逐主体区分公司事件、背景和未来预期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专家会议纪要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供需、价格、技术和政策传导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行业信息作背景，点名公司仍需业务证据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首席观点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首次覆盖、新催化和预期修正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公司观点服务候选，未来政策进入前瞻榜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互动问答 qa*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公司官方回答中的实质增量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新增明确回答服务候选，提问热度不入池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直接连接符 3">
            <a:extLst>
              <a:ext uri="{FF2B5EF4-FFF2-40B4-BE49-F238E27FC236}">
                <a16:creationId xmlns:a16="http://schemas.microsoft.com/office/drawing/2014/main" id="{3DA7B9D0-3840-4EA2-AF29-5951FA19218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0"/>
          </a:xfrm>
          <a:prstGeom prst="line">
            <a:avLst/>
          </a:prstGeom>
          <a:noFill/>
          <a:ln w="13335">
            <a:solidFill>
              <a:srgbClr val="203C59"/>
            </a:solidFill>
          </a:ln>
        </p:spPr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2DF48998-7F35-45E6-9CBD-A1D904837B53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10972800" cy="0"/>
          </a:xfrm>
          <a:prstGeom prst="line">
            <a:avLst/>
          </a:prstGeom>
          <a:noFill/>
          <a:ln w="9525">
            <a:solidFill>
              <a:srgbClr val="203C59"/>
            </a:solidFill>
          </a:ln>
        </p:spPr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79C7A1CB-CB72-4CD1-99E3-980581D5069B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972800" cy="0"/>
          </a:xfrm>
          <a:prstGeom prst="line">
            <a:avLst/>
          </a:prstGeom>
          <a:noFill/>
          <a:ln w="13335">
            <a:solidFill>
              <a:srgbClr val="203C59"/>
            </a:solidFill>
          </a:ln>
        </p:spPr>
      </p:sp>
      <p:sp>
        <p:nvSpPr>
          <p:cNvPr id="7" name="同一会议跨表去重，参会机构数量和独立来源另行保留为关">
            <a:extLst>
              <a:ext uri="{FF2B5EF4-FFF2-40B4-BE49-F238E27FC236}">
                <a16:creationId xmlns:a16="http://schemas.microsoft.com/office/drawing/2014/main" id="{B9C83857-4D7D-4AA0-BD9C-BDEC893733ED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同一会议跨表去重，参会机构数量和独立来源另行保留为关注特征。</a:t>
            </a:r>
          </a:p>
        </p:txBody>
      </p:sp>
    </p:spTree>
    <p:extLst>
      <p:ext uri="{BB962C8B-B14F-4D97-AF65-F5344CB8AC3E}">
        <p14:creationId xmlns:p14="http://schemas.microsoft.com/office/powerpoint/2010/main" val="486248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事件卡与候选关系">
            <a:extLst>
              <a:ext uri="{FF2B5EF4-FFF2-40B4-BE49-F238E27FC236}">
                <a16:creationId xmlns:a16="http://schemas.microsoft.com/office/drawing/2014/main" id="{BB5B2767-95A5-4778-ABD0-CD3E9AAAC55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rPr>
              <a:t>事件卡与候选关系</a:t>
            </a:r>
          </a:p>
        </p:txBody>
      </p:sp>
      <p:sp>
        <p:nvSpPr>
          <p:cNvPr id="2" name="7">
            <a:extLst>
              <a:ext uri="{FF2B5EF4-FFF2-40B4-BE49-F238E27FC236}">
                <a16:creationId xmlns:a16="http://schemas.microsoft.com/office/drawing/2014/main" id="{AACD722C-BCE7-4C88-901B-DE3DF939EFBA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graphicFrame>
        <p:nvGraphicFramePr>
          <p:cNvPr id="3" name="内容比较表">
            <a:extLst>
              <a:ext uri="{FF2B5EF4-FFF2-40B4-BE49-F238E27FC236}">
                <a16:creationId xmlns:a16="http://schemas.microsoft.com/office/drawing/2014/main" id="{08F16CDE-F4EA-451A-BBAD-9DEDCF197177}"/>
              </a:ext>
            </a:extLst>
          </p:cNvPr>
          <p:cNvGraphicFramePr/>
          <p:nvPr/>
        </p:nvGraphicFramePr>
        <p:xfrm>
          <a:off x="609600" y="1428750"/>
          <a:ext cx="10972800" cy="4210050"/>
        </p:xfrm>
        <a:graphic>
          <a:graphicData uri="http://schemas.openxmlformats.org/drawingml/2006/table">
            <a:tbl>
              <a:tblPr/>
              <a:tblGrid>
                <a:gridCol w="268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标准对象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保留的信息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业务作用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EventCard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标准事件卡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主体、时间、主张、来源角色、支持与反向证据、有效期、失效条件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记录已发生、已披露或已明确表达的信息，满足公司证据条件后继续检查候选资格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CandidateLink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候选关系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证券代码、事件角色、直接或扩展关系、证据句、首次可见时间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说明某只股票为什么获得候选资格，并绑定原始事件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ExpectedEventCard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预期事件卡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未来事项、发布主体、推进阶段、预计时间、原文证据及未知项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只服务独立前瞻榜，尚未兑现预期不进入个股P0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直接连接符 3">
            <a:extLst>
              <a:ext uri="{FF2B5EF4-FFF2-40B4-BE49-F238E27FC236}">
                <a16:creationId xmlns:a16="http://schemas.microsoft.com/office/drawing/2014/main" id="{1DABDA49-1BFE-4749-A494-5AC8464FA9D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0"/>
          </a:xfrm>
          <a:prstGeom prst="line">
            <a:avLst/>
          </a:prstGeom>
          <a:noFill/>
          <a:ln w="13335">
            <a:solidFill>
              <a:srgbClr val="203C59"/>
            </a:solidFill>
          </a:ln>
        </p:spPr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E492DA54-4326-492C-8797-B2386C53FC3F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10972800" cy="0"/>
          </a:xfrm>
          <a:prstGeom prst="line">
            <a:avLst/>
          </a:prstGeom>
          <a:noFill/>
          <a:ln w="9525">
            <a:solidFill>
              <a:srgbClr val="203C59"/>
            </a:solidFill>
          </a:ln>
        </p:spPr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1230DBB2-9018-40F4-B2B9-99B6DA06142B}"/>
              </a:ext>
            </a:extLst>
          </p:cNvPr>
          <p:cNvSpPr>
            <a:spLocks noGrp="1"/>
          </p:cNvSpPr>
          <p:nvPr/>
        </p:nvSpPr>
        <p:spPr>
          <a:xfrm>
            <a:off x="609600" y="5638800"/>
            <a:ext cx="10972800" cy="0"/>
          </a:xfrm>
          <a:prstGeom prst="line">
            <a:avLst/>
          </a:prstGeom>
          <a:noFill/>
          <a:ln w="13335">
            <a:solidFill>
              <a:srgbClr val="203C59"/>
            </a:solidFill>
          </a:ln>
        </p:spPr>
      </p:sp>
      <p:sp>
        <p:nvSpPr>
          <p:cNvPr id="7" name="事件卡记录“发生了什么”，候选关系记录“为什么关联这">
            <a:extLst>
              <a:ext uri="{FF2B5EF4-FFF2-40B4-BE49-F238E27FC236}">
                <a16:creationId xmlns:a16="http://schemas.microsoft.com/office/drawing/2014/main" id="{77F83916-592E-4573-A1AB-91AB7BEEC4D3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事件卡记录“发生了什么”，候选关系记录“为什么关联这家公司”。缺失信息不得补写成事实。</a:t>
            </a:r>
          </a:p>
        </p:txBody>
      </p:sp>
    </p:spTree>
    <p:extLst>
      <p:ext uri="{BB962C8B-B14F-4D97-AF65-F5344CB8AC3E}">
        <p14:creationId xmlns:p14="http://schemas.microsoft.com/office/powerpoint/2010/main" val="69927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7430A38-D3E8-4E67-BD69-4614DA4B7F9C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8767763" y="2038350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8B14A59-5AD4-43E6-B5F7-F178FE4189B3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5953126" y="2038350"/>
            <a:ext cx="285749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B9952073-8562-4B61-96D7-25055EBFE04F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3138488" y="2038350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sp>
        <p:nvSpPr>
          <p:cNvPr id="15" name="观点聚类与有效共识">
            <a:extLst>
              <a:ext uri="{FF2B5EF4-FFF2-40B4-BE49-F238E27FC236}">
                <a16:creationId xmlns:a16="http://schemas.microsoft.com/office/drawing/2014/main" id="{DE9B3015-D7F9-4236-8632-341C2F1FA22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rPr>
              <a:t>观点聚类与有效共识</a:t>
            </a:r>
          </a:p>
        </p:txBody>
      </p:sp>
      <p:sp>
        <p:nvSpPr>
          <p:cNvPr id="2" name="8">
            <a:extLst>
              <a:ext uri="{FF2B5EF4-FFF2-40B4-BE49-F238E27FC236}">
                <a16:creationId xmlns:a16="http://schemas.microsoft.com/office/drawing/2014/main" id="{C2203761-CEAB-471D-921C-B374C9F96F38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3" name="原始提及">
            <a:extLst>
              <a:ext uri="{FF2B5EF4-FFF2-40B4-BE49-F238E27FC236}">
                <a16:creationId xmlns:a16="http://schemas.microsoft.com/office/drawing/2014/main" id="{894570EC-0908-4767-93BF-6586E419C649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2528888" cy="114300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原始提及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保留全部记录</a:t>
            </a:r>
          </a:p>
        </p:txBody>
      </p:sp>
      <p:sp>
        <p:nvSpPr>
          <p:cNvPr id="4" name="事件簇去重">
            <a:extLst>
              <a:ext uri="{FF2B5EF4-FFF2-40B4-BE49-F238E27FC236}">
                <a16:creationId xmlns:a16="http://schemas.microsoft.com/office/drawing/2014/main" id="{2694AE45-6281-4200-A60B-4BBB9A99CDA5}"/>
              </a:ext>
            </a:extLst>
          </p:cNvPr>
          <p:cNvSpPr>
            <a:spLocks noGrp="1"/>
          </p:cNvSpPr>
          <p:nvPr/>
        </p:nvSpPr>
        <p:spPr>
          <a:xfrm>
            <a:off x="3424238" y="1466850"/>
            <a:ext cx="2528888" cy="114300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事件簇去重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合并转载与同场会议</a:t>
            </a:r>
          </a:p>
        </p:txBody>
      </p:sp>
      <p:sp>
        <p:nvSpPr>
          <p:cNvPr id="5" name="独立支持">
            <a:extLst>
              <a:ext uri="{FF2B5EF4-FFF2-40B4-BE49-F238E27FC236}">
                <a16:creationId xmlns:a16="http://schemas.microsoft.com/office/drawing/2014/main" id="{9814B5FB-170E-4D51-B6AA-7804B9A8D0BC}"/>
              </a:ext>
            </a:extLst>
          </p:cNvPr>
          <p:cNvSpPr>
            <a:spLocks noGrp="1"/>
          </p:cNvSpPr>
          <p:nvPr/>
        </p:nvSpPr>
        <p:spPr>
          <a:xfrm>
            <a:off x="6238875" y="1466850"/>
            <a:ext cx="2528888" cy="114300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独立支持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区分独立来源</a:t>
            </a:r>
            <a:b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保留新增主张</a:t>
            </a:r>
          </a:p>
        </p:txBody>
      </p:sp>
      <p:sp>
        <p:nvSpPr>
          <p:cNvPr id="6" name="有效共识特征">
            <a:extLst>
              <a:ext uri="{FF2B5EF4-FFF2-40B4-BE49-F238E27FC236}">
                <a16:creationId xmlns:a16="http://schemas.microsoft.com/office/drawing/2014/main" id="{8DAAFC44-19E4-4B02-A5A7-B659ED90766E}"/>
              </a:ext>
            </a:extLst>
          </p:cNvPr>
          <p:cNvSpPr>
            <a:spLocks noGrp="1"/>
          </p:cNvSpPr>
          <p:nvPr/>
        </p:nvSpPr>
        <p:spPr>
          <a:xfrm>
            <a:off x="9053513" y="1466850"/>
            <a:ext cx="2528888" cy="114300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有效共识特征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可靠性、证据</a:t>
            </a:r>
            <a:b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新颖度与时效</a:t>
            </a:r>
          </a:p>
        </p:txBody>
      </p:sp>
      <p:sp>
        <p:nvSpPr>
          <p:cNvPr id="10" name="关注广度与事实证据分别统计">
            <a:extLst>
              <a:ext uri="{FF2B5EF4-FFF2-40B4-BE49-F238E27FC236}">
                <a16:creationId xmlns:a16="http://schemas.microsoft.com/office/drawing/2014/main" id="{6020001B-9B26-41BB-86E0-EFADB2E51AF1}"/>
              </a:ext>
            </a:extLst>
          </p:cNvPr>
          <p:cNvSpPr>
            <a:spLocks noGrp="1"/>
          </p:cNvSpPr>
          <p:nvPr/>
        </p:nvSpPr>
        <p:spPr>
          <a:xfrm>
            <a:off x="609600" y="30670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关注广度与事实证据分别统计</a:t>
            </a:r>
          </a:p>
        </p:txBody>
      </p:sp>
      <p:sp>
        <p:nvSpPr>
          <p:cNvPr id="11" name="参会机构数和独立首席数描述关注度，同一事件中的新增事">
            <a:extLst>
              <a:ext uri="{FF2B5EF4-FFF2-40B4-BE49-F238E27FC236}">
                <a16:creationId xmlns:a16="http://schemas.microsoft.com/office/drawing/2014/main" id="{BAEF2BD8-9A5B-463F-81BC-FE151438AA4E}"/>
              </a:ext>
            </a:extLst>
          </p:cNvPr>
          <p:cNvSpPr>
            <a:spLocks noGrp="1"/>
          </p:cNvSpPr>
          <p:nvPr/>
        </p:nvSpPr>
        <p:spPr>
          <a:xfrm>
            <a:off x="609600" y="3486150"/>
            <a:ext cx="109728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参会机构数和独立首席数描述关注度，同一事件中的新增事实描述证据增量。重复提及不能扩大为多份独立利好。</a:t>
            </a:r>
          </a:p>
        </p:txBody>
      </p:sp>
      <p:sp>
        <p:nvSpPr>
          <p:cNvPr id="12" name="不同来源的有效份量">
            <a:extLst>
              <a:ext uri="{FF2B5EF4-FFF2-40B4-BE49-F238E27FC236}">
                <a16:creationId xmlns:a16="http://schemas.microsoft.com/office/drawing/2014/main" id="{36DFAA9E-5C89-40F3-A6F6-CCA0D47F4998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不同来源的有效份量</a:t>
            </a:r>
          </a:p>
        </p:txBody>
      </p:sp>
      <p:sp>
        <p:nvSpPr>
          <p:cNvPr id="13" name="分析师可靠性取决于当时已成熟的历史表现，并结合行业匹">
            <a:extLst>
              <a:ext uri="{FF2B5EF4-FFF2-40B4-BE49-F238E27FC236}">
                <a16:creationId xmlns:a16="http://schemas.microsoft.com/office/drawing/2014/main" id="{ABAE1281-5234-4599-8D97-18E7AAC0BA6F}"/>
              </a:ext>
            </a:extLst>
          </p:cNvPr>
          <p:cNvSpPr>
            <a:spLocks noGrp="1"/>
          </p:cNvSpPr>
          <p:nvPr/>
        </p:nvSpPr>
        <p:spPr>
          <a:xfrm>
            <a:off x="609600" y="4895850"/>
            <a:ext cx="109728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分析师可靠性取决于当时已成熟的历史表现，并结合行业匹配、当前证据质量和时间衰减。小样本向总体基准收缩，同机构相关观点折扣。</a:t>
            </a:r>
          </a:p>
        </p:txBody>
      </p:sp>
      <p:sp>
        <p:nvSpPr>
          <p:cNvPr id="14" name="支持强度采用饱和处理，更多独立证据可以增强特征，但提">
            <a:extLst>
              <a:ext uri="{FF2B5EF4-FFF2-40B4-BE49-F238E27FC236}">
                <a16:creationId xmlns:a16="http://schemas.microsoft.com/office/drawing/2014/main" id="{BD075B31-E0E9-4F42-A430-AAA52FE482AA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支持强度采用饱和处理，更多独立证据可以增强特征，但提及次数不直接换算成上涨概率。</a:t>
            </a:r>
          </a:p>
        </p:txBody>
      </p:sp>
    </p:spTree>
    <p:extLst>
      <p:ext uri="{BB962C8B-B14F-4D97-AF65-F5344CB8AC3E}">
        <p14:creationId xmlns:p14="http://schemas.microsoft.com/office/powerpoint/2010/main" val="688880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0候选的生成条件">
            <a:extLst>
              <a:ext uri="{FF2B5EF4-FFF2-40B4-BE49-F238E27FC236}">
                <a16:creationId xmlns:a16="http://schemas.microsoft.com/office/drawing/2014/main" id="{0BE654FE-C14C-4501-B7E3-0F2BDCC87BB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rPr>
              <a:t>P0候选的生成条件</a:t>
            </a:r>
          </a:p>
        </p:txBody>
      </p:sp>
      <p:sp>
        <p:nvSpPr>
          <p:cNvPr id="2" name="9">
            <a:extLst>
              <a:ext uri="{FF2B5EF4-FFF2-40B4-BE49-F238E27FC236}">
                <a16:creationId xmlns:a16="http://schemas.microsoft.com/office/drawing/2014/main" id="{BB227ED9-5EF1-4B0B-B149-8F7C476FA836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graphicFrame>
        <p:nvGraphicFramePr>
          <p:cNvPr id="3" name="内容比较表">
            <a:extLst>
              <a:ext uri="{FF2B5EF4-FFF2-40B4-BE49-F238E27FC236}">
                <a16:creationId xmlns:a16="http://schemas.microsoft.com/office/drawing/2014/main" id="{289C3A00-3E43-4729-9DB8-A80062ADFC0C}"/>
              </a:ext>
            </a:extLst>
          </p:cNvPr>
          <p:cNvGraphicFramePr/>
          <p:nvPr/>
        </p:nvGraphicFramePr>
        <p:xfrm>
          <a:off x="609600" y="1428750"/>
          <a:ext cx="10972800" cy="3067050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关系类型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形成条件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必须保留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63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直接关系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DIRECT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正文、证券代码或官方回答明确指向公司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且能够确认公司在事件中的角色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原始记录与EventCard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证券主键、事件角色和支持句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63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扩展关系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EXPANDED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事件落到产品或产业节点，限定一跳公司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核验收入、订单、客户、产能或资产暴露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一跳路径、业务证据及方向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首次可见时间与关系版本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直接连接符 3">
            <a:extLst>
              <a:ext uri="{FF2B5EF4-FFF2-40B4-BE49-F238E27FC236}">
                <a16:creationId xmlns:a16="http://schemas.microsoft.com/office/drawing/2014/main" id="{C26ADA86-392A-48D0-954F-CA2B90BC0D7C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0"/>
          </a:xfrm>
          <a:prstGeom prst="line">
            <a:avLst/>
          </a:prstGeom>
          <a:noFill/>
          <a:ln w="13335">
            <a:solidFill>
              <a:srgbClr val="203C59"/>
            </a:solidFill>
          </a:ln>
        </p:spPr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92E0D520-1E2B-43C4-879E-19FA91E74EE9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10972800" cy="0"/>
          </a:xfrm>
          <a:prstGeom prst="line">
            <a:avLst/>
          </a:prstGeom>
          <a:noFill/>
          <a:ln w="9525">
            <a:solidFill>
              <a:srgbClr val="203C59"/>
            </a:solidFill>
          </a:ln>
        </p:spPr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E84A4E72-38A3-4407-8AE4-937E181BCA6B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0"/>
          </a:xfrm>
          <a:prstGeom prst="line">
            <a:avLst/>
          </a:prstGeom>
          <a:noFill/>
          <a:ln w="13335">
            <a:solidFill>
              <a:srgbClr val="203C59"/>
            </a:solidFill>
          </a:ln>
        </p:spPr>
      </p:sp>
      <p:sp>
        <p:nvSpPr>
          <p:cNvPr id="7" name="P0统一资格检查">
            <a:extLst>
              <a:ext uri="{FF2B5EF4-FFF2-40B4-BE49-F238E27FC236}">
                <a16:creationId xmlns:a16="http://schemas.microsoft.com/office/drawing/2014/main" id="{34A638F6-2691-43E2-8E75-1E5DCB45C370}"/>
              </a:ext>
            </a:extLst>
          </p:cNvPr>
          <p:cNvSpPr>
            <a:spLocks noGrp="1"/>
          </p:cNvSpPr>
          <p:nvPr/>
        </p:nvSpPr>
        <p:spPr>
          <a:xfrm>
            <a:off x="609600" y="475297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P0统一资格检查</a:t>
            </a:r>
          </a:p>
        </p:txBody>
      </p:sp>
      <p:sp>
        <p:nvSpPr>
          <p:cNvPr id="8" name="检查截止前可见、在市A股、事件去重与有效期、公司关系">
            <a:extLst>
              <a:ext uri="{FF2B5EF4-FFF2-40B4-BE49-F238E27FC236}">
                <a16:creationId xmlns:a16="http://schemas.microsoft.com/office/drawing/2014/main" id="{E911365E-3ECB-4A9B-8337-9D0727DAA8CB}"/>
              </a:ext>
            </a:extLst>
          </p:cNvPr>
          <p:cNvSpPr>
            <a:spLocks noGrp="1"/>
          </p:cNvSpPr>
          <p:nvPr/>
        </p:nvSpPr>
        <p:spPr>
          <a:xfrm>
            <a:off x="609600" y="5172075"/>
            <a:ext cx="109728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检查截止前可见、在市A股、事件去重与有效期、公司关系及原文支持。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通过后输出带事件卡和候选关系的P1标准记录。</a:t>
            </a:r>
          </a:p>
        </p:txBody>
      </p:sp>
      <p:sp>
        <p:nvSpPr>
          <p:cNvPr id="9" name="只有行业名称、概念标签、历史龙头或未兑现政策预期，均">
            <a:extLst>
              <a:ext uri="{FF2B5EF4-FFF2-40B4-BE49-F238E27FC236}">
                <a16:creationId xmlns:a16="http://schemas.microsoft.com/office/drawing/2014/main" id="{F4ED716A-DD2F-4FDF-8301-32247EB96918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只有行业名称、概念标签、历史龙头或未兑现政策预期，均不足以生成个股候选。</a:t>
            </a:r>
          </a:p>
        </p:txBody>
      </p:sp>
    </p:spTree>
    <p:extLst>
      <p:ext uri="{BB962C8B-B14F-4D97-AF65-F5344CB8AC3E}">
        <p14:creationId xmlns:p14="http://schemas.microsoft.com/office/powerpoint/2010/main" val="714194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1FE1628-546A-44E9-993C-1AAFBBBCE8C6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9330690" y="1776413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684C9E2-C9EA-44F5-A76A-61BF34FAA80A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7078980" y="1776413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5BCA001-D2CF-4B0C-B2F8-E37B9AEC40BC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827270" y="1776413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0DE6392-4976-4C85-BF13-C582E782A97A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2575560" y="1776413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sp>
        <p:nvSpPr>
          <p:cNvPr id="17" name="P0至P3的分层筛选流程">
            <a:extLst>
              <a:ext uri="{FF2B5EF4-FFF2-40B4-BE49-F238E27FC236}">
                <a16:creationId xmlns:a16="http://schemas.microsoft.com/office/drawing/2014/main" id="{2D5DECF5-836D-4D6A-9348-FCE3EF17DD5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rPr>
              <a:t>P0至P3的分层筛选流程</a:t>
            </a:r>
          </a:p>
        </p:txBody>
      </p:sp>
      <p:sp>
        <p:nvSpPr>
          <p:cNvPr id="2" name="10">
            <a:extLst>
              <a:ext uri="{FF2B5EF4-FFF2-40B4-BE49-F238E27FC236}">
                <a16:creationId xmlns:a16="http://schemas.microsoft.com/office/drawing/2014/main" id="{E785D22A-43E5-4ED7-AFC2-24878DA66E97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P0">
            <a:extLst>
              <a:ext uri="{FF2B5EF4-FFF2-40B4-BE49-F238E27FC236}">
                <a16:creationId xmlns:a16="http://schemas.microsoft.com/office/drawing/2014/main" id="{F1413EDB-57EF-4145-8C71-93D0D5A3A2DC}"/>
              </a:ext>
            </a:extLst>
          </p:cNvPr>
          <p:cNvSpPr>
            <a:spLocks noGrp="1"/>
          </p:cNvSpPr>
          <p:nvPr/>
        </p:nvSpPr>
        <p:spPr>
          <a:xfrm>
            <a:off x="609600" y="1343025"/>
            <a:ext cx="1965960" cy="866775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资格登记</a:t>
            </a:r>
          </a:p>
        </p:txBody>
      </p:sp>
      <p:sp>
        <p:nvSpPr>
          <p:cNvPr id="4" name="P1">
            <a:extLst>
              <a:ext uri="{FF2B5EF4-FFF2-40B4-BE49-F238E27FC236}">
                <a16:creationId xmlns:a16="http://schemas.microsoft.com/office/drawing/2014/main" id="{C4058556-8A19-4C8D-98FB-0762AB590D5A}"/>
              </a:ext>
            </a:extLst>
          </p:cNvPr>
          <p:cNvSpPr>
            <a:spLocks noGrp="1"/>
          </p:cNvSpPr>
          <p:nvPr/>
        </p:nvSpPr>
        <p:spPr>
          <a:xfrm>
            <a:off x="2861310" y="1343025"/>
            <a:ext cx="1965960" cy="866775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量化精筛</a:t>
            </a:r>
          </a:p>
        </p:txBody>
      </p:sp>
      <p:sp>
        <p:nvSpPr>
          <p:cNvPr id="5" name="P2">
            <a:extLst>
              <a:ext uri="{FF2B5EF4-FFF2-40B4-BE49-F238E27FC236}">
                <a16:creationId xmlns:a16="http://schemas.microsoft.com/office/drawing/2014/main" id="{0500D859-0789-41CF-8A1C-BE71B9AF2B0D}"/>
              </a:ext>
            </a:extLst>
          </p:cNvPr>
          <p:cNvSpPr>
            <a:spLocks noGrp="1"/>
          </p:cNvSpPr>
          <p:nvPr/>
        </p:nvSpPr>
        <p:spPr>
          <a:xfrm>
            <a:off x="5113020" y="1343025"/>
            <a:ext cx="1965960" cy="866775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P2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轻量核验</a:t>
            </a:r>
          </a:p>
        </p:txBody>
      </p:sp>
      <p:sp>
        <p:nvSpPr>
          <p:cNvPr id="6" name="P3">
            <a:extLst>
              <a:ext uri="{FF2B5EF4-FFF2-40B4-BE49-F238E27FC236}">
                <a16:creationId xmlns:a16="http://schemas.microsoft.com/office/drawing/2014/main" id="{5B69C4A9-8CD4-4D9E-850E-A00577EA7C2F}"/>
              </a:ext>
            </a:extLst>
          </p:cNvPr>
          <p:cNvSpPr>
            <a:spLocks noGrp="1"/>
          </p:cNvSpPr>
          <p:nvPr/>
        </p:nvSpPr>
        <p:spPr>
          <a:xfrm>
            <a:off x="7364730" y="1343025"/>
            <a:ext cx="1965960" cy="866775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P3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完整复核</a:t>
            </a:r>
          </a:p>
        </p:txBody>
      </p:sp>
      <p:sp>
        <p:nvSpPr>
          <p:cNvPr id="7" name="观察名单">
            <a:extLst>
              <a:ext uri="{FF2B5EF4-FFF2-40B4-BE49-F238E27FC236}">
                <a16:creationId xmlns:a16="http://schemas.microsoft.com/office/drawing/2014/main" id="{3574CB72-E958-4E63-B003-0D3E0EA5D269}"/>
              </a:ext>
            </a:extLst>
          </p:cNvPr>
          <p:cNvSpPr>
            <a:spLocks noGrp="1"/>
          </p:cNvSpPr>
          <p:nvPr/>
        </p:nvSpPr>
        <p:spPr>
          <a:xfrm>
            <a:off x="9616440" y="1343025"/>
            <a:ext cx="1965960" cy="866775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观察名单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0至10只</a:t>
            </a:r>
          </a:p>
        </p:txBody>
      </p:sp>
      <p:graphicFrame>
        <p:nvGraphicFramePr>
          <p:cNvPr id="12" name="内容比较表">
            <a:extLst>
              <a:ext uri="{FF2B5EF4-FFF2-40B4-BE49-F238E27FC236}">
                <a16:creationId xmlns:a16="http://schemas.microsoft.com/office/drawing/2014/main" id="{C22D6079-5F8E-42A6-A154-9843C88E09FD}"/>
              </a:ext>
            </a:extLst>
          </p:cNvPr>
          <p:cNvGraphicFramePr/>
          <p:nvPr/>
        </p:nvGraphicFramePr>
        <p:xfrm>
          <a:off x="609600" y="2600325"/>
          <a:ext cx="10972800" cy="3133725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725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本层检测内容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交给下一层的结果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时间、证券状态、事件关系与证据资格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带事件卡和候选关系的标准候选记录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五组特征、T+1概率、质量与下行风险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量化参考顺序、主要依据和P2研究任务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业务是否真实承接事件，收入利润路径是否成立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支持、反证、未知项和P3复核包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深度研究、财务对账与重大负面核验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通过、待复核、观察或否决状态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8BD56966-02C0-432E-93FE-C353A2FE562E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10972800" cy="0"/>
          </a:xfrm>
          <a:prstGeom prst="line">
            <a:avLst/>
          </a:prstGeom>
          <a:noFill/>
          <a:ln w="13335">
            <a:solidFill>
              <a:srgbClr val="203C59"/>
            </a:solidFill>
          </a:ln>
        </p:spPr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A6F26CB1-38AD-492B-AE88-3F455AD0723F}"/>
              </a:ext>
            </a:extLst>
          </p:cNvPr>
          <p:cNvSpPr>
            <a:spLocks noGrp="1"/>
          </p:cNvSpPr>
          <p:nvPr/>
        </p:nvSpPr>
        <p:spPr>
          <a:xfrm>
            <a:off x="609600" y="3067050"/>
            <a:ext cx="10972800" cy="0"/>
          </a:xfrm>
          <a:prstGeom prst="line">
            <a:avLst/>
          </a:prstGeom>
          <a:noFill/>
          <a:ln w="9525">
            <a:solidFill>
              <a:srgbClr val="203C59"/>
            </a:solidFill>
          </a:ln>
        </p:spPr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15753048-894D-4EC4-8B6A-DEEDABFD86EA}"/>
              </a:ext>
            </a:extLst>
          </p:cNvPr>
          <p:cNvSpPr>
            <a:spLocks noGrp="1"/>
          </p:cNvSpPr>
          <p:nvPr/>
        </p:nvSpPr>
        <p:spPr>
          <a:xfrm>
            <a:off x="609600" y="5734050"/>
            <a:ext cx="10972800" cy="0"/>
          </a:xfrm>
          <a:prstGeom prst="line">
            <a:avLst/>
          </a:prstGeom>
          <a:noFill/>
          <a:ln w="13335">
            <a:solidFill>
              <a:srgbClr val="203C59"/>
            </a:solidFill>
          </a:ln>
        </p:spPr>
      </p:sp>
      <p:sp>
        <p:nvSpPr>
          <p:cNvPr id="16" name="超出研究容量的合格候选排队保留。最终只发布通过研究和">
            <a:extLst>
              <a:ext uri="{FF2B5EF4-FFF2-40B4-BE49-F238E27FC236}">
                <a16:creationId xmlns:a16="http://schemas.microsoft.com/office/drawing/2014/main" id="{32093E77-DAC8-458F-9B45-E1154C3B5EA7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超出研究容量的合格候选排队保留。最终只发布通过研究和风险复核的候选，不足10只不补足。</a:t>
            </a:r>
          </a:p>
        </p:txBody>
      </p:sp>
    </p:spTree>
    <p:extLst>
      <p:ext uri="{BB962C8B-B14F-4D97-AF65-F5344CB8AC3E}">
        <p14:creationId xmlns:p14="http://schemas.microsoft.com/office/powerpoint/2010/main" val="1195029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ABEA9387-4D4E-4736-A089-5A3500AB64CC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8767763" y="2105025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44A393D2-89CC-4A6A-B93F-FCDC00C54FAF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5953126" y="2105025"/>
            <a:ext cx="285749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7DFAB7CD-D73E-43C4-A04A-7A917DE97A22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3138488" y="2105025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sp>
        <p:nvSpPr>
          <p:cNvPr id="15" name="大模型的文本理解与知识维护">
            <a:extLst>
              <a:ext uri="{FF2B5EF4-FFF2-40B4-BE49-F238E27FC236}">
                <a16:creationId xmlns:a16="http://schemas.microsoft.com/office/drawing/2014/main" id="{04784409-5ED3-4D10-8E2C-CDA3FC567DE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rPr>
              <a:t>大模型的文本理解与知识维护</a:t>
            </a:r>
          </a:p>
        </p:txBody>
      </p:sp>
      <p:sp>
        <p:nvSpPr>
          <p:cNvPr id="2" name="11">
            <a:extLst>
              <a:ext uri="{FF2B5EF4-FFF2-40B4-BE49-F238E27FC236}">
                <a16:creationId xmlns:a16="http://schemas.microsoft.com/office/drawing/2014/main" id="{BFF8F449-C61C-4AAC-B625-6FF64C4FE85F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投研原文">
            <a:extLst>
              <a:ext uri="{FF2B5EF4-FFF2-40B4-BE49-F238E27FC236}">
                <a16:creationId xmlns:a16="http://schemas.microsoft.com/office/drawing/2014/main" id="{5515F7A1-7629-44AC-BE3C-863A3BA599A2}"/>
              </a:ext>
            </a:extLst>
          </p:cNvPr>
          <p:cNvSpPr>
            <a:spLocks noGrp="1"/>
          </p:cNvSpPr>
          <p:nvPr/>
        </p:nvSpPr>
        <p:spPr>
          <a:xfrm>
            <a:off x="609600" y="1543050"/>
            <a:ext cx="2528888" cy="112395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投研原文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纪要、观点与问答</a:t>
            </a:r>
          </a:p>
        </p:txBody>
      </p:sp>
      <p:sp>
        <p:nvSpPr>
          <p:cNvPr id="4" name="本地Qwen">
            <a:extLst>
              <a:ext uri="{FF2B5EF4-FFF2-40B4-BE49-F238E27FC236}">
                <a16:creationId xmlns:a16="http://schemas.microsoft.com/office/drawing/2014/main" id="{9FEBB91B-CC5C-4D0E-8C95-979A4189841E}"/>
              </a:ext>
            </a:extLst>
          </p:cNvPr>
          <p:cNvSpPr>
            <a:spLocks noGrp="1"/>
          </p:cNvSpPr>
          <p:nvPr/>
        </p:nvSpPr>
        <p:spPr>
          <a:xfrm>
            <a:off x="3424238" y="1543050"/>
            <a:ext cx="2528888" cy="112395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本地Qwen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角色识别与证据定位</a:t>
            </a:r>
          </a:p>
        </p:txBody>
      </p:sp>
      <p:sp>
        <p:nvSpPr>
          <p:cNvPr id="5" name="结构与证据校验">
            <a:extLst>
              <a:ext uri="{FF2B5EF4-FFF2-40B4-BE49-F238E27FC236}">
                <a16:creationId xmlns:a16="http://schemas.microsoft.com/office/drawing/2014/main" id="{FBF43BE5-F3B1-4EAB-88B8-FBF6BADBDE0F}"/>
              </a:ext>
            </a:extLst>
          </p:cNvPr>
          <p:cNvSpPr>
            <a:spLocks noGrp="1"/>
          </p:cNvSpPr>
          <p:nvPr/>
        </p:nvSpPr>
        <p:spPr>
          <a:xfrm>
            <a:off x="6238875" y="1543050"/>
            <a:ext cx="2528888" cy="112395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结构与证据校验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证券、时间和原文位置</a:t>
            </a:r>
          </a:p>
        </p:txBody>
      </p:sp>
      <p:sp>
        <p:nvSpPr>
          <p:cNvPr id="6" name="标准结果">
            <a:extLst>
              <a:ext uri="{FF2B5EF4-FFF2-40B4-BE49-F238E27FC236}">
                <a16:creationId xmlns:a16="http://schemas.microsoft.com/office/drawing/2014/main" id="{9E317CB6-8844-4E5B-A150-49E23A83F0C6}"/>
              </a:ext>
            </a:extLst>
          </p:cNvPr>
          <p:cNvSpPr>
            <a:spLocks noGrp="1"/>
          </p:cNvSpPr>
          <p:nvPr/>
        </p:nvSpPr>
        <p:spPr>
          <a:xfrm>
            <a:off x="9053513" y="1543050"/>
            <a:ext cx="2528888" cy="112395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标准结果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事件卡、研究字段与知识更新</a:t>
            </a:r>
          </a:p>
        </p:txBody>
      </p:sp>
      <p:sp>
        <p:nvSpPr>
          <p:cNvPr id="10" name="文本处理">
            <a:extLst>
              <a:ext uri="{FF2B5EF4-FFF2-40B4-BE49-F238E27FC236}">
                <a16:creationId xmlns:a16="http://schemas.microsoft.com/office/drawing/2014/main" id="{E12DF3E4-B5AC-4503-BBA8-1130160AC38A}"/>
              </a:ext>
            </a:extLst>
          </p:cNvPr>
          <p:cNvSpPr>
            <a:spLocks noGrp="1"/>
          </p:cNvSpPr>
          <p:nvPr/>
        </p:nvSpPr>
        <p:spPr>
          <a:xfrm>
            <a:off x="609600" y="308610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文本处理</a:t>
            </a:r>
          </a:p>
        </p:txBody>
      </p:sp>
      <p:sp>
        <p:nvSpPr>
          <p:cNvPr id="11" name="大模型拆分事实、管理层口径、专家判断、分析师预测和投">
            <a:extLst>
              <a:ext uri="{FF2B5EF4-FFF2-40B4-BE49-F238E27FC236}">
                <a16:creationId xmlns:a16="http://schemas.microsoft.com/office/drawing/2014/main" id="{E0848553-5FC4-447B-9C68-2D815A0CFEA1}"/>
              </a:ext>
            </a:extLst>
          </p:cNvPr>
          <p:cNvSpPr>
            <a:spLocks noGrp="1"/>
          </p:cNvSpPr>
          <p:nvPr/>
        </p:nvSpPr>
        <p:spPr>
          <a:xfrm>
            <a:off x="609600" y="3505200"/>
            <a:ext cx="109728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大模型拆分事实、管理层口径、专家判断、分析师预测和投资者主张，提取主体、方向、期限、反向证据与未知项。</a:t>
            </a:r>
          </a:p>
        </p:txBody>
      </p:sp>
      <p:sp>
        <p:nvSpPr>
          <p:cNvPr id="12" name="知识维护与复杂任务">
            <a:extLst>
              <a:ext uri="{FF2B5EF4-FFF2-40B4-BE49-F238E27FC236}">
                <a16:creationId xmlns:a16="http://schemas.microsoft.com/office/drawing/2014/main" id="{15DAF688-3C55-41AA-9C89-767856B67076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知识维护与复杂任务</a:t>
            </a:r>
          </a:p>
        </p:txBody>
      </p:sp>
      <p:sp>
        <p:nvSpPr>
          <p:cNvPr id="13" name="经校验的事件更新知识页，供历史对照和公司研究使用。复">
            <a:extLst>
              <a:ext uri="{FF2B5EF4-FFF2-40B4-BE49-F238E27FC236}">
                <a16:creationId xmlns:a16="http://schemas.microsoft.com/office/drawing/2014/main" id="{C3FC57A2-6CDF-4F4A-881F-2922FE922195}"/>
              </a:ext>
            </a:extLst>
          </p:cNvPr>
          <p:cNvSpPr>
            <a:spLocks noGrp="1"/>
          </p:cNvSpPr>
          <p:nvPr/>
        </p:nvSpPr>
        <p:spPr>
          <a:xfrm>
            <a:off x="609600" y="4876800"/>
            <a:ext cx="109728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经校验的事件更新知识页，供历史对照和公司研究使用。复杂冲突进入补证或复核，服务异常时回退已验收的轻量流程。</a:t>
            </a:r>
          </a:p>
        </p:txBody>
      </p:sp>
      <p:sp>
        <p:nvSpPr>
          <p:cNvPr id="14" name="先固定模型、提示与测试集。只有重复错误无法由规则、检">
            <a:extLst>
              <a:ext uri="{FF2B5EF4-FFF2-40B4-BE49-F238E27FC236}">
                <a16:creationId xmlns:a16="http://schemas.microsoft.com/office/drawing/2014/main" id="{6806C02E-2C1E-44CC-A1EA-8169E76A3151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先固定模型、提示与测试集。只有重复错误无法由规则、检索和提示解决时，才评估基于人工审核样本的微调。</a:t>
            </a:r>
          </a:p>
        </p:txBody>
      </p:sp>
    </p:spTree>
    <p:extLst>
      <p:ext uri="{BB962C8B-B14F-4D97-AF65-F5344CB8AC3E}">
        <p14:creationId xmlns:p14="http://schemas.microsoft.com/office/powerpoint/2010/main" val="667785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B173D750-5405-4E06-9607-DCC237A2CC33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8767763" y="2085975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6B7190D-C7AD-4A5E-9334-3495334C3ED8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5953126" y="2085975"/>
            <a:ext cx="285749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04A9E360-EE0E-4A2B-90CA-45A94D7B840F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3138488" y="2085975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sp>
        <p:nvSpPr>
          <p:cNvPr id="15" name="时态投研LLM Wiki与证据检索">
            <a:extLst>
              <a:ext uri="{FF2B5EF4-FFF2-40B4-BE49-F238E27FC236}">
                <a16:creationId xmlns:a16="http://schemas.microsoft.com/office/drawing/2014/main" id="{6E920A75-07DF-4FA1-9E00-F8F6109D28C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rPr>
              <a:t>时态投研LLM Wiki与证据检索</a:t>
            </a:r>
          </a:p>
        </p:txBody>
      </p:sp>
      <p:sp>
        <p:nvSpPr>
          <p:cNvPr id="2" name="12">
            <a:extLst>
              <a:ext uri="{FF2B5EF4-FFF2-40B4-BE49-F238E27FC236}">
                <a16:creationId xmlns:a16="http://schemas.microsoft.com/office/drawing/2014/main" id="{DADCAA8B-27CE-4F44-A9CA-03ADA39FA8B1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已校验证据">
            <a:extLst>
              <a:ext uri="{FF2B5EF4-FFF2-40B4-BE49-F238E27FC236}">
                <a16:creationId xmlns:a16="http://schemas.microsoft.com/office/drawing/2014/main" id="{E55370A0-F237-43A0-822D-4C6451A30800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2528888" cy="112395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已校验证据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原始记录与事件卡</a:t>
            </a:r>
          </a:p>
        </p:txBody>
      </p:sp>
      <p:sp>
        <p:nvSpPr>
          <p:cNvPr id="4" name="时态知识页">
            <a:extLst>
              <a:ext uri="{FF2B5EF4-FFF2-40B4-BE49-F238E27FC236}">
                <a16:creationId xmlns:a16="http://schemas.microsoft.com/office/drawing/2014/main" id="{448FB042-54F8-440B-B856-4B2E1925F4AE}"/>
              </a:ext>
            </a:extLst>
          </p:cNvPr>
          <p:cNvSpPr>
            <a:spLocks noGrp="1"/>
          </p:cNvSpPr>
          <p:nvPr/>
        </p:nvSpPr>
        <p:spPr>
          <a:xfrm>
            <a:off x="3424238" y="1524000"/>
            <a:ext cx="2528888" cy="112395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时态知识页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公司、产品与历史主题</a:t>
            </a:r>
          </a:p>
        </p:txBody>
      </p:sp>
      <p:sp>
        <p:nvSpPr>
          <p:cNvPr id="5" name="混合检索与重排">
            <a:extLst>
              <a:ext uri="{FF2B5EF4-FFF2-40B4-BE49-F238E27FC236}">
                <a16:creationId xmlns:a16="http://schemas.microsoft.com/office/drawing/2014/main" id="{7F242FFC-564B-4B2E-8FD6-B246DB8682E0}"/>
              </a:ext>
            </a:extLst>
          </p:cNvPr>
          <p:cNvSpPr>
            <a:spLocks noGrp="1"/>
          </p:cNvSpPr>
          <p:nvPr/>
        </p:nvSpPr>
        <p:spPr>
          <a:xfrm>
            <a:off x="6238875" y="1524000"/>
            <a:ext cx="2528888" cy="112395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混合检索与重排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精确查询及语义匹配</a:t>
            </a:r>
          </a:p>
        </p:txBody>
      </p:sp>
      <p:sp>
        <p:nvSpPr>
          <p:cNvPr id="6" name="最小证据包">
            <a:extLst>
              <a:ext uri="{FF2B5EF4-FFF2-40B4-BE49-F238E27FC236}">
                <a16:creationId xmlns:a16="http://schemas.microsoft.com/office/drawing/2014/main" id="{8F89883F-AD83-4CEA-8CC3-2165371E1CDD}"/>
              </a:ext>
            </a:extLst>
          </p:cNvPr>
          <p:cNvSpPr>
            <a:spLocks noGrp="1"/>
          </p:cNvSpPr>
          <p:nvPr/>
        </p:nvSpPr>
        <p:spPr>
          <a:xfrm>
            <a:off x="9053513" y="1524000"/>
            <a:ext cx="2528888" cy="112395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最小证据包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相关原文、版本与正反证据</a:t>
            </a:r>
          </a:p>
        </p:txBody>
      </p:sp>
      <p:graphicFrame>
        <p:nvGraphicFramePr>
          <p:cNvPr id="10" name="内容比较表">
            <a:extLst>
              <a:ext uri="{FF2B5EF4-FFF2-40B4-BE49-F238E27FC236}">
                <a16:creationId xmlns:a16="http://schemas.microsoft.com/office/drawing/2014/main" id="{8ED6B8F1-849E-4C56-B007-302A65098B1F}"/>
              </a:ext>
            </a:extLst>
          </p:cNvPr>
          <p:cNvGraphicFramePr/>
          <p:nvPr/>
        </p:nvGraphicFramePr>
        <p:xfrm>
          <a:off x="609600" y="3124200"/>
          <a:ext cx="10972800" cy="264795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处理原理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研究价值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增量更新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新事件只更新受影响页面，新版本保留旧结论和来源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持续跟踪经营变化，不覆盖历史判断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时间过滤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先按证券、可见时间和证据角色筛选，再检索与重排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可恢复历史决策日能够读到的证据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检索分工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BM25匹配原文术语，BGE-M3匹配近义表达，重排校验相关性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为P2和P3定位材料，减少无关正文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4A7D0179-E56C-40B6-B46B-31445E1EF545}"/>
              </a:ext>
            </a:extLst>
          </p:cNvPr>
          <p:cNvSpPr>
            <a:spLocks noGrp="1"/>
          </p:cNvSpPr>
          <p:nvPr/>
        </p:nvSpPr>
        <p:spPr>
          <a:xfrm>
            <a:off x="609600" y="3124200"/>
            <a:ext cx="10972800" cy="0"/>
          </a:xfrm>
          <a:prstGeom prst="line">
            <a:avLst/>
          </a:prstGeom>
          <a:noFill/>
          <a:ln w="13335">
            <a:solidFill>
              <a:srgbClr val="203C59"/>
            </a:solidFill>
          </a:ln>
        </p:spPr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170C2BAA-EBF4-4B1A-962E-FD479B933FFB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10972800" cy="0"/>
          </a:xfrm>
          <a:prstGeom prst="line">
            <a:avLst/>
          </a:prstGeom>
          <a:noFill/>
          <a:ln w="9525">
            <a:solidFill>
              <a:srgbClr val="203C59"/>
            </a:solidFill>
          </a:ln>
        </p:spPr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4B8C5D13-00F4-406C-A609-E0062CFB381E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972800" cy="0"/>
          </a:xfrm>
          <a:prstGeom prst="line">
            <a:avLst/>
          </a:prstGeom>
          <a:noFill/>
          <a:ln w="13335">
            <a:solidFill>
              <a:srgbClr val="203C59"/>
            </a:solidFill>
          </a:ln>
        </p:spPr>
      </p:sp>
      <p:sp>
        <p:nvSpPr>
          <p:cNvPr id="14" name="Wiki是可重建的派生知识。候选资格仍来自原始事件与">
            <a:extLst>
              <a:ext uri="{FF2B5EF4-FFF2-40B4-BE49-F238E27FC236}">
                <a16:creationId xmlns:a16="http://schemas.microsoft.com/office/drawing/2014/main" id="{DCC11047-5C04-431A-A244-4820DDCD2CA0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Wiki是可重建的派生知识。候选资格仍来自原始事件与CandidateLink，研究结论仍回到原始证据。</a:t>
            </a:r>
          </a:p>
        </p:txBody>
      </p:sp>
    </p:spTree>
    <p:extLst>
      <p:ext uri="{BB962C8B-B14F-4D97-AF65-F5344CB8AC3E}">
        <p14:creationId xmlns:p14="http://schemas.microsoft.com/office/powerpoint/2010/main" val="1246406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9BB20D7-9E4C-47F6-9806-4232BF0643BB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9330690" y="2900363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1C2632D-D49F-4B7D-A620-A793FC029154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078980" y="2900363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CB458C4-F45B-43E7-8BB0-0CBC35BEA9FB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4827270" y="2900363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0B311C91-F79F-47EA-95A8-B27441B9306D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575560" y="2900363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sp>
        <p:nvSpPr>
          <p:cNvPr id="17" name="个股量化分析与研究辅助评价">
            <a:extLst>
              <a:ext uri="{FF2B5EF4-FFF2-40B4-BE49-F238E27FC236}">
                <a16:creationId xmlns:a16="http://schemas.microsoft.com/office/drawing/2014/main" id="{90D1A872-C9C7-475D-ADAD-C139065E2D2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rPr>
              <a:t>个股量化分析与研究辅助评价</a:t>
            </a:r>
          </a:p>
        </p:txBody>
      </p:sp>
      <p:sp>
        <p:nvSpPr>
          <p:cNvPr id="2" name="13">
            <a:extLst>
              <a:ext uri="{FF2B5EF4-FFF2-40B4-BE49-F238E27FC236}">
                <a16:creationId xmlns:a16="http://schemas.microsoft.com/office/drawing/2014/main" id="{269D8CD0-172A-4F25-AD56-308FA87ABD30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输入为已通过P0资格检查的候选，以及同一截止时点的五">
            <a:extLst>
              <a:ext uri="{FF2B5EF4-FFF2-40B4-BE49-F238E27FC236}">
                <a16:creationId xmlns:a16="http://schemas.microsoft.com/office/drawing/2014/main" id="{F8546730-C131-416B-B67B-41AC261B683D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100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输入为已通过P0资格检查的候选，以及同一截止时点的五组数据。</a:t>
            </a:r>
          </a:p>
        </p:txBody>
      </p:sp>
      <p:sp>
        <p:nvSpPr>
          <p:cNvPr id="4" name="五组特征">
            <a:extLst>
              <a:ext uri="{FF2B5EF4-FFF2-40B4-BE49-F238E27FC236}">
                <a16:creationId xmlns:a16="http://schemas.microsoft.com/office/drawing/2014/main" id="{D8E8EDA0-AC3C-4067-AEF5-AFB1A6A0D7F3}"/>
              </a:ext>
            </a:extLst>
          </p:cNvPr>
          <p:cNvSpPr>
            <a:spLocks noGrp="1"/>
          </p:cNvSpPr>
          <p:nvPr/>
        </p:nvSpPr>
        <p:spPr>
          <a:xfrm>
            <a:off x="609600" y="2314575"/>
            <a:ext cx="1965960" cy="1171575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五组特征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事件与行情等</a:t>
            </a:r>
            <a:b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形成可比指标</a:t>
            </a:r>
          </a:p>
        </p:txBody>
      </p:sp>
      <p:sp>
        <p:nvSpPr>
          <p:cNvPr id="5" name="统计子模型">
            <a:extLst>
              <a:ext uri="{FF2B5EF4-FFF2-40B4-BE49-F238E27FC236}">
                <a16:creationId xmlns:a16="http://schemas.microsoft.com/office/drawing/2014/main" id="{1D6F6D09-ED58-414B-88F4-BB9BD3EF9394}"/>
              </a:ext>
            </a:extLst>
          </p:cNvPr>
          <p:cNvSpPr>
            <a:spLocks noGrp="1"/>
          </p:cNvSpPr>
          <p:nvPr/>
        </p:nvSpPr>
        <p:spPr>
          <a:xfrm>
            <a:off x="2861310" y="2314575"/>
            <a:ext cx="1965960" cy="1171575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统计子模型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统一标签训练</a:t>
            </a:r>
            <a:b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学习历史关系</a:t>
            </a:r>
          </a:p>
        </p:txBody>
      </p:sp>
      <p:sp>
        <p:nvSpPr>
          <p:cNvPr id="6" name="约束融合">
            <a:extLst>
              <a:ext uri="{FF2B5EF4-FFF2-40B4-BE49-F238E27FC236}">
                <a16:creationId xmlns:a16="http://schemas.microsoft.com/office/drawing/2014/main" id="{2CCACFB8-AB87-4023-9524-A2D3EB13C6EC}"/>
              </a:ext>
            </a:extLst>
          </p:cNvPr>
          <p:cNvSpPr>
            <a:spLocks noGrp="1"/>
          </p:cNvSpPr>
          <p:nvPr/>
        </p:nvSpPr>
        <p:spPr>
          <a:xfrm>
            <a:off x="5113020" y="2314575"/>
            <a:ext cx="1965960" cy="1171575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约束融合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分支结果与</a:t>
            </a:r>
            <a:b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非概率背景特征</a:t>
            </a:r>
          </a:p>
        </p:txBody>
      </p:sp>
      <p:sp>
        <p:nvSpPr>
          <p:cNvPr id="7" name="概率校准">
            <a:extLst>
              <a:ext uri="{FF2B5EF4-FFF2-40B4-BE49-F238E27FC236}">
                <a16:creationId xmlns:a16="http://schemas.microsoft.com/office/drawing/2014/main" id="{B032EB8F-A873-4E2F-A255-0928937F09BA}"/>
              </a:ext>
            </a:extLst>
          </p:cNvPr>
          <p:cNvSpPr>
            <a:spLocks noGrp="1"/>
          </p:cNvSpPr>
          <p:nvPr/>
        </p:nvSpPr>
        <p:spPr>
          <a:xfrm>
            <a:off x="7364730" y="2314575"/>
            <a:ext cx="1965960" cy="1171575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概率校准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对齐独立样本</a:t>
            </a:r>
            <a:b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实际发生频率</a:t>
            </a:r>
          </a:p>
        </p:txBody>
      </p:sp>
      <p:sp>
        <p:nvSpPr>
          <p:cNvPr id="8" name="量化输出">
            <a:extLst>
              <a:ext uri="{FF2B5EF4-FFF2-40B4-BE49-F238E27FC236}">
                <a16:creationId xmlns:a16="http://schemas.microsoft.com/office/drawing/2014/main" id="{C3135B37-6446-4978-A02A-FCF24B52056D}"/>
              </a:ext>
            </a:extLst>
          </p:cNvPr>
          <p:cNvSpPr>
            <a:spLocks noGrp="1"/>
          </p:cNvSpPr>
          <p:nvPr/>
        </p:nvSpPr>
        <p:spPr>
          <a:xfrm>
            <a:off x="9616440" y="2314575"/>
            <a:ext cx="1965960" cy="1171575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量化输出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三个参考概率</a:t>
            </a:r>
            <a:b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与初步排序</a:t>
            </a:r>
          </a:p>
        </p:txBody>
      </p:sp>
      <p:graphicFrame>
        <p:nvGraphicFramePr>
          <p:cNvPr id="13" name="内容比较表">
            <a:extLst>
              <a:ext uri="{FF2B5EF4-FFF2-40B4-BE49-F238E27FC236}">
                <a16:creationId xmlns:a16="http://schemas.microsoft.com/office/drawing/2014/main" id="{EE98D89E-E958-439A-A5A7-AE8535A36219}"/>
              </a:ext>
            </a:extLst>
          </p:cNvPr>
          <p:cNvGraphicFramePr/>
          <p:nvPr/>
        </p:nvGraphicFramePr>
        <p:xfrm>
          <a:off x="609600" y="4000500"/>
          <a:ext cx="10972800" cy="2343150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9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量化输出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所回答的问题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T+1上涨概率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在当时信息条件下，次日复权收盘价上涨的可能性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正超额收益概率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次日表现超过事先约定基准的可能性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下行风险概率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发生预先定义的不利价格变化的可能性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EE1157E5-F250-4CA3-820A-34A2E2072FC1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10972800" cy="0"/>
          </a:xfrm>
          <a:prstGeom prst="line">
            <a:avLst/>
          </a:prstGeom>
          <a:noFill/>
          <a:ln w="13335">
            <a:solidFill>
              <a:srgbClr val="203C59"/>
            </a:solidFill>
          </a:ln>
        </p:spPr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F69D659C-93D8-4AFB-80E0-43B5DFBE486E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10972800" cy="0"/>
          </a:xfrm>
          <a:prstGeom prst="line">
            <a:avLst/>
          </a:prstGeom>
          <a:noFill/>
          <a:ln w="9525">
            <a:solidFill>
              <a:srgbClr val="203C59"/>
            </a:solidFill>
          </a:ln>
        </p:spPr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A86E47B8-38B2-4B7B-839D-A66F08914338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10972800" cy="0"/>
          </a:xfrm>
          <a:prstGeom prst="line">
            <a:avLst/>
          </a:prstGeom>
          <a:noFill/>
          <a:ln w="13335">
            <a:solidFill>
              <a:srgbClr val="203C59"/>
            </a:solidFill>
          </a:ln>
        </p:spPr>
      </p:sp>
    </p:spTree>
    <p:extLst>
      <p:ext uri="{BB962C8B-B14F-4D97-AF65-F5344CB8AC3E}">
        <p14:creationId xmlns:p14="http://schemas.microsoft.com/office/powerpoint/2010/main" val="1654515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个股量化分析的五组特征">
            <a:extLst>
              <a:ext uri="{FF2B5EF4-FFF2-40B4-BE49-F238E27FC236}">
                <a16:creationId xmlns:a16="http://schemas.microsoft.com/office/drawing/2014/main" id="{532A9D8C-AAA2-4B5C-B0DD-C3018D7C4E4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rPr>
              <a:t>个股量化分析的五组特征</a:t>
            </a:r>
          </a:p>
        </p:txBody>
      </p:sp>
      <p:sp>
        <p:nvSpPr>
          <p:cNvPr id="2" name="14">
            <a:extLst>
              <a:ext uri="{FF2B5EF4-FFF2-40B4-BE49-F238E27FC236}">
                <a16:creationId xmlns:a16="http://schemas.microsoft.com/office/drawing/2014/main" id="{A7EE3D83-6FE3-4C7C-B6EC-0CF3FEFA13AE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3" name="内容比较表">
            <a:extLst>
              <a:ext uri="{FF2B5EF4-FFF2-40B4-BE49-F238E27FC236}">
                <a16:creationId xmlns:a16="http://schemas.microsoft.com/office/drawing/2014/main" id="{53D92F83-1756-4CF3-85B8-82A61C1BCA87}"/>
              </a:ext>
            </a:extLst>
          </p:cNvPr>
          <p:cNvGraphicFramePr/>
          <p:nvPr/>
        </p:nvGraphicFramePr>
        <p:xfrm>
          <a:off x="609600" y="1381125"/>
          <a:ext cx="10972800" cy="4381500"/>
        </p:xfrm>
        <a:graphic>
          <a:graphicData uri="http://schemas.openxmlformats.org/drawingml/2006/table">
            <a:tbl>
              <a:tblPr/>
              <a:tblGrid>
                <a:gridCol w="264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特征组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主要计算内容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回答的问题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事件与证据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新颖度、独立支持、来源可靠性、反证和剩余有效期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信息是否新增、可信且仍然有效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量价与资金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多窗口收益、成交换手分位、资金连续性、尾盘结构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市场是否开始持续承接事件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行业与产业关系背景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行业强弱、上涨宽度、资金连续性、一跳路径和业务暴露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外部环境和公司业务联系是否支持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基本面预期差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旧预期与新增经营证据、收入利润驱动及确认时点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事件能否转为真实经营变化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位置与拥挤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连续上涨、价格偏离、高位换手、舆情集中和尾部风险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机会是否已被过度反映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直接连接符 3">
            <a:extLst>
              <a:ext uri="{FF2B5EF4-FFF2-40B4-BE49-F238E27FC236}">
                <a16:creationId xmlns:a16="http://schemas.microsoft.com/office/drawing/2014/main" id="{34B24687-CA30-40C4-8C26-7F18B88335D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0"/>
          </a:xfrm>
          <a:prstGeom prst="line">
            <a:avLst/>
          </a:prstGeom>
          <a:noFill/>
          <a:ln w="13335">
            <a:solidFill>
              <a:srgbClr val="203C59"/>
            </a:solidFill>
          </a:ln>
        </p:spPr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DC0968EB-65A9-4111-83A4-86BDF35E930F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10972800" cy="0"/>
          </a:xfrm>
          <a:prstGeom prst="line">
            <a:avLst/>
          </a:prstGeom>
          <a:noFill/>
          <a:ln w="9525">
            <a:solidFill>
              <a:srgbClr val="203C59"/>
            </a:solidFill>
          </a:ln>
        </p:spPr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6127243C-6875-4DFB-9625-EA7F88BAE8E3}"/>
              </a:ext>
            </a:extLst>
          </p:cNvPr>
          <p:cNvSpPr>
            <a:spLocks noGrp="1"/>
          </p:cNvSpPr>
          <p:nvPr/>
        </p:nvSpPr>
        <p:spPr>
          <a:xfrm>
            <a:off x="609600" y="5762625"/>
            <a:ext cx="10972800" cy="0"/>
          </a:xfrm>
          <a:prstGeom prst="line">
            <a:avLst/>
          </a:prstGeom>
          <a:noFill/>
          <a:ln w="13335">
            <a:solidFill>
              <a:srgbClr val="203C59"/>
            </a:solidFill>
          </a:ln>
        </p:spPr>
      </p:sp>
      <p:sp>
        <p:nvSpPr>
          <p:cNvPr id="7" name="五组特征取自同一截止时点。重大负面和证券资格在特征之">
            <a:extLst>
              <a:ext uri="{FF2B5EF4-FFF2-40B4-BE49-F238E27FC236}">
                <a16:creationId xmlns:a16="http://schemas.microsoft.com/office/drawing/2014/main" id="{159F5A01-40F0-472B-AA63-A4A1BC893C8D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五组特征取自同一截止时点。重大负面和证券资格在特征之外执行硬门检查。</a:t>
            </a:r>
          </a:p>
        </p:txBody>
      </p:sp>
    </p:spTree>
    <p:extLst>
      <p:ext uri="{BB962C8B-B14F-4D97-AF65-F5344CB8AC3E}">
        <p14:creationId xmlns:p14="http://schemas.microsoft.com/office/powerpoint/2010/main" val="1467430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市场承接与股价位置的联合判断">
            <a:extLst>
              <a:ext uri="{FF2B5EF4-FFF2-40B4-BE49-F238E27FC236}">
                <a16:creationId xmlns:a16="http://schemas.microsoft.com/office/drawing/2014/main" id="{E5DDAA2B-F575-4334-AEEE-A27AF44A3E5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rPr>
              <a:t>市场承接与股价位置的联合判断</a:t>
            </a:r>
          </a:p>
        </p:txBody>
      </p:sp>
      <p:sp>
        <p:nvSpPr>
          <p:cNvPr id="2" name="15">
            <a:extLst>
              <a:ext uri="{FF2B5EF4-FFF2-40B4-BE49-F238E27FC236}">
                <a16:creationId xmlns:a16="http://schemas.microsoft.com/office/drawing/2014/main" id="{F2563EF0-C52E-4B31-9A44-167231F80951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3" name="内容比较表">
            <a:extLst>
              <a:ext uri="{FF2B5EF4-FFF2-40B4-BE49-F238E27FC236}">
                <a16:creationId xmlns:a16="http://schemas.microsoft.com/office/drawing/2014/main" id="{05931A90-1E8D-4B05-962A-8248E1311584}"/>
              </a:ext>
            </a:extLst>
          </p:cNvPr>
          <p:cNvGraphicFramePr/>
          <p:nvPr/>
        </p:nvGraphicFramePr>
        <p:xfrm>
          <a:off x="609600" y="1485900"/>
          <a:ext cx="10972800" cy="4305300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计算与比较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研究辅助作用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价格和成交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将收益、成交额、换手和波动与自身历史及同类股票比较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识别趋势持续、孤立异动与异常放量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资金连续性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对资金金额标准化，观察多日流入和尾盘结构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判断承接是否持续，避免单日异动放大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位置和拥挤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检查连续上涨、收益分位、均线偏离及舆情集中度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识别高位回撤风险，避免机械追高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交互判断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将事件增量、资金承接、行业环境与价格位置共同输入模型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由历史样本学习组合关系，低位不自动加分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直接连接符 3">
            <a:extLst>
              <a:ext uri="{FF2B5EF4-FFF2-40B4-BE49-F238E27FC236}">
                <a16:creationId xmlns:a16="http://schemas.microsoft.com/office/drawing/2014/main" id="{4A3C3392-453F-4AC5-9B36-9EDDC23A41F3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10972800" cy="0"/>
          </a:xfrm>
          <a:prstGeom prst="line">
            <a:avLst/>
          </a:prstGeom>
          <a:noFill/>
          <a:ln w="13335">
            <a:solidFill>
              <a:srgbClr val="203C59"/>
            </a:solidFill>
          </a:ln>
        </p:spPr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E0F2E536-9794-469A-83B2-DC587D857A49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0"/>
          </a:xfrm>
          <a:prstGeom prst="line">
            <a:avLst/>
          </a:prstGeom>
          <a:noFill/>
          <a:ln w="9525">
            <a:solidFill>
              <a:srgbClr val="203C59"/>
            </a:solidFill>
          </a:ln>
        </p:spPr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AA51FEC8-AA6F-405A-8409-E3437E7FF428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0"/>
          </a:xfrm>
          <a:prstGeom prst="line">
            <a:avLst/>
          </a:prstGeom>
          <a:noFill/>
          <a:ln w="13335">
            <a:solidFill>
              <a:srgbClr val="203C59"/>
            </a:solidFill>
          </a:ln>
        </p:spPr>
      </p:sp>
      <p:sp>
        <p:nvSpPr>
          <p:cNvPr id="7" name="连续上涨天数只是风险特征之一。是否降级或退出，还需结">
            <a:extLst>
              <a:ext uri="{FF2B5EF4-FFF2-40B4-BE49-F238E27FC236}">
                <a16:creationId xmlns:a16="http://schemas.microsoft.com/office/drawing/2014/main" id="{6261EBFB-A944-494E-AC44-65495E887E61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连续上涨天数只是风险特征之一。是否降级或退出，还需结合成交、行业宽度与新增事实。</a:t>
            </a:r>
          </a:p>
        </p:txBody>
      </p:sp>
    </p:spTree>
    <p:extLst>
      <p:ext uri="{BB962C8B-B14F-4D97-AF65-F5344CB8AC3E}">
        <p14:creationId xmlns:p14="http://schemas.microsoft.com/office/powerpoint/2010/main" val="9338552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A739563-346C-4A2B-A429-2F8227BB71F8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8767763" y="5053013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4A11AA3-9BAD-412D-8981-1C050F3024A2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5953126" y="5053013"/>
            <a:ext cx="285749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39CE920D-992B-4FE0-B7BC-6759D9F48280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3138488" y="5053013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sp>
        <p:nvSpPr>
          <p:cNvPr id="15" name="行业背景与基本面预期差">
            <a:extLst>
              <a:ext uri="{FF2B5EF4-FFF2-40B4-BE49-F238E27FC236}">
                <a16:creationId xmlns:a16="http://schemas.microsoft.com/office/drawing/2014/main" id="{89DADB80-3BB0-48B0-9D38-77870E62E16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rPr>
              <a:t>行业背景与基本面预期差</a:t>
            </a:r>
          </a:p>
        </p:txBody>
      </p:sp>
      <p:sp>
        <p:nvSpPr>
          <p:cNvPr id="2" name="16">
            <a:extLst>
              <a:ext uri="{FF2B5EF4-FFF2-40B4-BE49-F238E27FC236}">
                <a16:creationId xmlns:a16="http://schemas.microsoft.com/office/drawing/2014/main" id="{08DC5E74-AA7E-4B05-BA3F-27F2861AA550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" name="行业与产业关系背景">
            <a:extLst>
              <a:ext uri="{FF2B5EF4-FFF2-40B4-BE49-F238E27FC236}">
                <a16:creationId xmlns:a16="http://schemas.microsoft.com/office/drawing/2014/main" id="{0D07C8E6-C4E9-415F-B32F-2D0D1B94E7A7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行业与产业关系背景</a:t>
            </a:r>
          </a:p>
        </p:txBody>
      </p:sp>
      <p:sp>
        <p:nvSpPr>
          <p:cNvPr id="4" name="按当时版本计算行业相对强弱、上涨宽度和资金连续性，核">
            <a:extLst>
              <a:ext uri="{FF2B5EF4-FFF2-40B4-BE49-F238E27FC236}">
                <a16:creationId xmlns:a16="http://schemas.microsoft.com/office/drawing/2014/main" id="{8A788D04-4383-4C2D-9FEF-D21540A5E4F8}"/>
              </a:ext>
            </a:extLst>
          </p:cNvPr>
          <p:cNvSpPr>
            <a:spLocks noGrp="1"/>
          </p:cNvSpPr>
          <p:nvPr/>
        </p:nvSpPr>
        <p:spPr>
          <a:xfrm>
            <a:off x="609600" y="1781175"/>
            <a:ext cx="109728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按当时版本计算行业相对强弱、上涨宽度和资金连续性，核验产业一跳路径及公司业务暴露。上下游联系同时可能带来收入机会或成本压力。</a:t>
            </a:r>
          </a:p>
        </p:txBody>
      </p:sp>
      <p:sp>
        <p:nvSpPr>
          <p:cNvPr id="5" name="预期差的识别">
            <a:extLst>
              <a:ext uri="{FF2B5EF4-FFF2-40B4-BE49-F238E27FC236}">
                <a16:creationId xmlns:a16="http://schemas.microsoft.com/office/drawing/2014/main" id="{6CBDA563-DAA9-4002-833B-469048CA1E1D}"/>
              </a:ext>
            </a:extLst>
          </p:cNvPr>
          <p:cNvSpPr>
            <a:spLocks noGrp="1"/>
          </p:cNvSpPr>
          <p:nvPr/>
        </p:nvSpPr>
        <p:spPr>
          <a:xfrm>
            <a:off x="609600" y="29146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预期差的识别</a:t>
            </a:r>
          </a:p>
        </p:txBody>
      </p:sp>
      <p:sp>
        <p:nvSpPr>
          <p:cNvPr id="6" name="先恢复决策时点的旧预期，再与最新可见经营证据比较，识">
            <a:extLst>
              <a:ext uri="{FF2B5EF4-FFF2-40B4-BE49-F238E27FC236}">
                <a16:creationId xmlns:a16="http://schemas.microsoft.com/office/drawing/2014/main" id="{75B7DEC5-022F-4385-A1F3-0D084F8FC20D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109728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先恢复决策时点的旧预期，再与最新可见经营证据比较，识别经营阶段前移、盈利预测修正以及收入确认时点变化。</a:t>
            </a:r>
          </a:p>
        </p:txBody>
      </p:sp>
      <p:sp>
        <p:nvSpPr>
          <p:cNvPr id="7" name="事件影响">
            <a:extLst>
              <a:ext uri="{FF2B5EF4-FFF2-40B4-BE49-F238E27FC236}">
                <a16:creationId xmlns:a16="http://schemas.microsoft.com/office/drawing/2014/main" id="{38D2CE02-DEFE-4315-A5AE-B0D6308ACAAC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2528888" cy="1076325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事件影响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产品与业务</a:t>
            </a:r>
          </a:p>
        </p:txBody>
      </p:sp>
      <p:sp>
        <p:nvSpPr>
          <p:cNvPr id="8" name="经营驱动">
            <a:extLst>
              <a:ext uri="{FF2B5EF4-FFF2-40B4-BE49-F238E27FC236}">
                <a16:creationId xmlns:a16="http://schemas.microsoft.com/office/drawing/2014/main" id="{80CE822D-2F5E-490E-A1E0-B5C1ACFFE94A}"/>
              </a:ext>
            </a:extLst>
          </p:cNvPr>
          <p:cNvSpPr>
            <a:spLocks noGrp="1"/>
          </p:cNvSpPr>
          <p:nvPr/>
        </p:nvSpPr>
        <p:spPr>
          <a:xfrm>
            <a:off x="3424238" y="4514850"/>
            <a:ext cx="2528888" cy="1076325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经营驱动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销量、价格和客户</a:t>
            </a:r>
          </a:p>
        </p:txBody>
      </p:sp>
      <p:sp>
        <p:nvSpPr>
          <p:cNvPr id="9" name="财务传导">
            <a:extLst>
              <a:ext uri="{FF2B5EF4-FFF2-40B4-BE49-F238E27FC236}">
                <a16:creationId xmlns:a16="http://schemas.microsoft.com/office/drawing/2014/main" id="{E240328F-C181-4EAB-AEEE-7730BF11444D}"/>
              </a:ext>
            </a:extLst>
          </p:cNvPr>
          <p:cNvSpPr>
            <a:spLocks noGrp="1"/>
          </p:cNvSpPr>
          <p:nvPr/>
        </p:nvSpPr>
        <p:spPr>
          <a:xfrm>
            <a:off x="6238875" y="4514850"/>
            <a:ext cx="2528888" cy="1076325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财务传导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收入、成本与利润</a:t>
            </a:r>
          </a:p>
        </p:txBody>
      </p:sp>
      <p:sp>
        <p:nvSpPr>
          <p:cNvPr id="10" name="资料缺口">
            <a:extLst>
              <a:ext uri="{FF2B5EF4-FFF2-40B4-BE49-F238E27FC236}">
                <a16:creationId xmlns:a16="http://schemas.microsoft.com/office/drawing/2014/main" id="{83809D44-B360-4857-83C4-AB1A1119BB88}"/>
              </a:ext>
            </a:extLst>
          </p:cNvPr>
          <p:cNvSpPr>
            <a:spLocks noGrp="1"/>
          </p:cNvSpPr>
          <p:nvPr/>
        </p:nvSpPr>
        <p:spPr>
          <a:xfrm>
            <a:off x="9053513" y="4514850"/>
            <a:ext cx="2528888" cy="1076325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资料缺口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未知项与反向证据</a:t>
            </a:r>
          </a:p>
        </p:txBody>
      </p:sp>
      <p:sp>
        <p:nvSpPr>
          <p:cNvPr id="14" name="行业归属不等于受益。订单金额、收入占比或确认时间未披">
            <a:extLst>
              <a:ext uri="{FF2B5EF4-FFF2-40B4-BE49-F238E27FC236}">
                <a16:creationId xmlns:a16="http://schemas.microsoft.com/office/drawing/2014/main" id="{D110C735-6E2A-4150-8EE3-0150EDA72157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行业归属不等于受益。订单金额、收入占比或确认时间未披露时保留未知，不以行业空间替代公司利润。</a:t>
            </a:r>
          </a:p>
        </p:txBody>
      </p:sp>
    </p:spTree>
    <p:extLst>
      <p:ext uri="{BB962C8B-B14F-4D97-AF65-F5344CB8AC3E}">
        <p14:creationId xmlns:p14="http://schemas.microsoft.com/office/powerpoint/2010/main" val="10735299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8523FBB-A86C-490F-AD21-501D6E41DB28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8767763" y="2914650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B9404350-90BB-4231-8C9A-BC7CB4E6934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953126" y="2914650"/>
            <a:ext cx="285749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7C9FD47-E049-4FDC-BBCA-93C5008468B7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138488" y="2914650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sp>
        <p:nvSpPr>
          <p:cNvPr id="16" name="历史训练样本与目标标签">
            <a:extLst>
              <a:ext uri="{FF2B5EF4-FFF2-40B4-BE49-F238E27FC236}">
                <a16:creationId xmlns:a16="http://schemas.microsoft.com/office/drawing/2014/main" id="{6353962D-FDF4-4279-96A4-0B24619A346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rPr>
              <a:t>历史训练样本与目标标签</a:t>
            </a:r>
          </a:p>
        </p:txBody>
      </p:sp>
      <p:sp>
        <p:nvSpPr>
          <p:cNvPr id="2" name="17">
            <a:extLst>
              <a:ext uri="{FF2B5EF4-FFF2-40B4-BE49-F238E27FC236}">
                <a16:creationId xmlns:a16="http://schemas.microsoft.com/office/drawing/2014/main" id="{7F82525F-432A-40EC-9D92-6A2E2339C769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3" name="每条样本对应历史某一天的一只合格候选股，保存当时信息">
            <a:extLst>
              <a:ext uri="{FF2B5EF4-FFF2-40B4-BE49-F238E27FC236}">
                <a16:creationId xmlns:a16="http://schemas.microsoft.com/office/drawing/2014/main" id="{1DC6099E-F543-41A3-A458-F273463E1D16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9728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每条样本对应历史某一天的一只合格候选股，保存当时信息和后续真实结果。</a:t>
            </a:r>
          </a:p>
        </p:txBody>
      </p:sp>
      <p:sp>
        <p:nvSpPr>
          <p:cNvPr id="4" name="恢复历史决策日">
            <a:extLst>
              <a:ext uri="{FF2B5EF4-FFF2-40B4-BE49-F238E27FC236}">
                <a16:creationId xmlns:a16="http://schemas.microsoft.com/office/drawing/2014/main" id="{2589844C-4994-490C-8856-A17BBA92AC89}"/>
              </a:ext>
            </a:extLst>
          </p:cNvPr>
          <p:cNvSpPr>
            <a:spLocks noGrp="1"/>
          </p:cNvSpPr>
          <p:nvPr/>
        </p:nvSpPr>
        <p:spPr>
          <a:xfrm>
            <a:off x="609600" y="2343150"/>
            <a:ext cx="2528888" cy="114300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恢复历史决策日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按首次可见时间</a:t>
            </a:r>
            <a:b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还原信息边界</a:t>
            </a:r>
          </a:p>
        </p:txBody>
      </p:sp>
      <p:sp>
        <p:nvSpPr>
          <p:cNvPr id="5" name="重建当日P0">
            <a:extLst>
              <a:ext uri="{FF2B5EF4-FFF2-40B4-BE49-F238E27FC236}">
                <a16:creationId xmlns:a16="http://schemas.microsoft.com/office/drawing/2014/main" id="{3E7DCC4F-C4E6-4AE5-A29B-F80C13CA9920}"/>
              </a:ext>
            </a:extLst>
          </p:cNvPr>
          <p:cNvSpPr>
            <a:spLocks noGrp="1"/>
          </p:cNvSpPr>
          <p:nvPr/>
        </p:nvSpPr>
        <p:spPr>
          <a:xfrm>
            <a:off x="3424238" y="2343150"/>
            <a:ext cx="2528888" cy="114300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重建当日P0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只保留当时</a:t>
            </a:r>
            <a:b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符合资格的候选</a:t>
            </a:r>
          </a:p>
        </p:txBody>
      </p:sp>
      <p:sp>
        <p:nvSpPr>
          <p:cNvPr id="6" name="计算当时特征">
            <a:extLst>
              <a:ext uri="{FF2B5EF4-FFF2-40B4-BE49-F238E27FC236}">
                <a16:creationId xmlns:a16="http://schemas.microsoft.com/office/drawing/2014/main" id="{1793EDE0-FDE7-46D5-ACAD-A072C66EF109}"/>
              </a:ext>
            </a:extLst>
          </p:cNvPr>
          <p:cNvSpPr>
            <a:spLocks noGrp="1"/>
          </p:cNvSpPr>
          <p:nvPr/>
        </p:nvSpPr>
        <p:spPr>
          <a:xfrm>
            <a:off x="6238875" y="2343150"/>
            <a:ext cx="2528888" cy="114300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计算当时特征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五组数据</a:t>
            </a:r>
            <a:b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使用同一快照</a:t>
            </a:r>
          </a:p>
        </p:txBody>
      </p:sp>
      <p:sp>
        <p:nvSpPr>
          <p:cNvPr id="7" name="配对真实结果">
            <a:extLst>
              <a:ext uri="{FF2B5EF4-FFF2-40B4-BE49-F238E27FC236}">
                <a16:creationId xmlns:a16="http://schemas.microsoft.com/office/drawing/2014/main" id="{110E3C3A-295E-4C80-8761-08E23D44413B}"/>
              </a:ext>
            </a:extLst>
          </p:cNvPr>
          <p:cNvSpPr>
            <a:spLocks noGrp="1"/>
          </p:cNvSpPr>
          <p:nvPr/>
        </p:nvSpPr>
        <p:spPr>
          <a:xfrm>
            <a:off x="9053513" y="2343150"/>
            <a:ext cx="2528888" cy="114300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配对真实结果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生成次日标签</a:t>
            </a:r>
            <a:b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用于监督学习</a:t>
            </a:r>
          </a:p>
        </p:txBody>
      </p:sp>
      <p:graphicFrame>
        <p:nvGraphicFramePr>
          <p:cNvPr id="11" name="内容比较表">
            <a:extLst>
              <a:ext uri="{FF2B5EF4-FFF2-40B4-BE49-F238E27FC236}">
                <a16:creationId xmlns:a16="http://schemas.microsoft.com/office/drawing/2014/main" id="{5D59B1AA-88FA-4978-A7ED-F3BADC498209}"/>
              </a:ext>
            </a:extLst>
          </p:cNvPr>
          <p:cNvGraphicFramePr/>
          <p:nvPr/>
        </p:nvGraphicFramePr>
        <p:xfrm>
          <a:off x="609600" y="3810000"/>
          <a:ext cx="10972800" cy="222885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独立任务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历史结果的定义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上涨任务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次日复权收盘价高于当日复权收盘价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超额收益任务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次日收益超过事先约定的基准指数收益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下行风险任务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按预先冻结的不利价格变化标准生成风险标签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AB52D3C7-FC50-4101-87DE-CE76C55F4720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10972800" cy="0"/>
          </a:xfrm>
          <a:prstGeom prst="line">
            <a:avLst/>
          </a:prstGeom>
          <a:noFill/>
          <a:ln w="13335">
            <a:solidFill>
              <a:srgbClr val="203C59"/>
            </a:solidFill>
          </a:ln>
        </p:spPr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596F2018-0A8D-426F-893A-F8B973BA50AB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10972800" cy="0"/>
          </a:xfrm>
          <a:prstGeom prst="line">
            <a:avLst/>
          </a:prstGeom>
          <a:noFill/>
          <a:ln w="9525">
            <a:solidFill>
              <a:srgbClr val="203C59"/>
            </a:solidFill>
          </a:ln>
        </p:spPr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1B14A754-4744-4308-AAE2-6D974C143A42}"/>
              </a:ext>
            </a:extLst>
          </p:cNvPr>
          <p:cNvSpPr>
            <a:spLocks noGrp="1"/>
          </p:cNvSpPr>
          <p:nvPr/>
        </p:nvSpPr>
        <p:spPr>
          <a:xfrm>
            <a:off x="609600" y="6038850"/>
            <a:ext cx="10972800" cy="0"/>
          </a:xfrm>
          <a:prstGeom prst="line">
            <a:avLst/>
          </a:prstGeom>
          <a:noFill/>
          <a:ln w="13335">
            <a:solidFill>
              <a:srgbClr val="203C59"/>
            </a:solidFill>
          </a:ln>
        </p:spPr>
      </p:sp>
      <p:sp>
        <p:nvSpPr>
          <p:cNvPr id="15" name="T+1行情只用于生成真实标签和检验模型，不进入T日输">
            <a:extLst>
              <a:ext uri="{FF2B5EF4-FFF2-40B4-BE49-F238E27FC236}">
                <a16:creationId xmlns:a16="http://schemas.microsoft.com/office/drawing/2014/main" id="{551B680D-834A-4B78-96FE-40BC15C83665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T+1行情只用于生成真实标签和检验模型，不进入T日输入。三个任务分别训练和校准。</a:t>
            </a:r>
          </a:p>
        </p:txBody>
      </p:sp>
    </p:spTree>
    <p:extLst>
      <p:ext uri="{BB962C8B-B14F-4D97-AF65-F5344CB8AC3E}">
        <p14:creationId xmlns:p14="http://schemas.microsoft.com/office/powerpoint/2010/main" val="7617826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9A55A07-19ED-4A73-A95A-169CB12E9070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7372350" y="4524375"/>
            <a:ext cx="1047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3A7F8525-5C57-4129-9E84-AB508E73C9C9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7372350" y="2800350"/>
            <a:ext cx="1047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3E15FA3C-3B18-4320-AEC8-5D02D67A6C84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3086100" y="3552825"/>
            <a:ext cx="857250" cy="971550"/>
          </a:xfrm>
          <a:prstGeom prst="bentConnector3">
            <a:avLst>
              <a:gd name="adj1" fmla="val 50000"/>
            </a:avLst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E7202F4C-6325-40A9-B72E-74BEAA3E51A3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3086100" y="2800350"/>
            <a:ext cx="857250" cy="752475"/>
          </a:xfrm>
          <a:prstGeom prst="bentConnector3">
            <a:avLst>
              <a:gd name="adj1" fmla="val 50000"/>
            </a:avLst>
          </a:prstGeom>
          <a:ln w="14288">
            <a:solidFill>
              <a:srgbClr val="65717D"/>
            </a:solidFill>
            <a:tailEnd type="triangle" w="sm" len="sm"/>
          </a:ln>
        </p:spPr>
      </p:cxnSp>
      <p:sp>
        <p:nvSpPr>
          <p:cNvPr id="15" name="统计模型的学习与分支输出">
            <a:extLst>
              <a:ext uri="{FF2B5EF4-FFF2-40B4-BE49-F238E27FC236}">
                <a16:creationId xmlns:a16="http://schemas.microsoft.com/office/drawing/2014/main" id="{BA31285C-108E-4EDF-B7DF-DE610FA96AE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rPr>
              <a:t>统计模型的学习与分支输出</a:t>
            </a:r>
          </a:p>
        </p:txBody>
      </p:sp>
      <p:sp>
        <p:nvSpPr>
          <p:cNvPr id="2" name="18">
            <a:extLst>
              <a:ext uri="{FF2B5EF4-FFF2-40B4-BE49-F238E27FC236}">
                <a16:creationId xmlns:a16="http://schemas.microsoft.com/office/drawing/2014/main" id="{BF064410-5A2B-417C-9A01-5D8ADBA35434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3" name="模型比较历史预测与真实结果，调整参数，学习哪些特征组">
            <a:extLst>
              <a:ext uri="{FF2B5EF4-FFF2-40B4-BE49-F238E27FC236}">
                <a16:creationId xmlns:a16="http://schemas.microsoft.com/office/drawing/2014/main" id="{30444FB3-6120-4C62-A45E-55375F8162FC}"/>
              </a:ext>
            </a:extLst>
          </p:cNvPr>
          <p:cNvSpPr>
            <a:spLocks noGrp="1"/>
          </p:cNvSpPr>
          <p:nvPr/>
        </p:nvSpPr>
        <p:spPr>
          <a:xfrm>
            <a:off x="609600" y="1343025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模型比较历史预测与真实结果，调整参数，学习哪些特征组合与次日表现相关。</a:t>
            </a:r>
          </a:p>
        </p:txBody>
      </p:sp>
      <p:sp>
        <p:nvSpPr>
          <p:cNvPr id="4" name="历史监督样本">
            <a:extLst>
              <a:ext uri="{FF2B5EF4-FFF2-40B4-BE49-F238E27FC236}">
                <a16:creationId xmlns:a16="http://schemas.microsoft.com/office/drawing/2014/main" id="{FB30C6E6-3A74-4D21-8CE9-59E440602365}"/>
              </a:ext>
            </a:extLst>
          </p:cNvPr>
          <p:cNvSpPr>
            <a:spLocks noGrp="1"/>
          </p:cNvSpPr>
          <p:nvPr/>
        </p:nvSpPr>
        <p:spPr>
          <a:xfrm>
            <a:off x="609600" y="3028950"/>
            <a:ext cx="2476500" cy="104775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历史监督样本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当日特征</a:t>
            </a:r>
            <a:b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与统一T+1标签</a:t>
            </a:r>
          </a:p>
        </p:txBody>
      </p:sp>
      <p:sp>
        <p:nvSpPr>
          <p:cNvPr id="5" name="逻辑回归基线">
            <a:extLst>
              <a:ext uri="{FF2B5EF4-FFF2-40B4-BE49-F238E27FC236}">
                <a16:creationId xmlns:a16="http://schemas.microsoft.com/office/drawing/2014/main" id="{1F546454-43CD-4769-9C66-4F8035585F38}"/>
              </a:ext>
            </a:extLst>
          </p:cNvPr>
          <p:cNvSpPr>
            <a:spLocks noGrp="1"/>
          </p:cNvSpPr>
          <p:nvPr/>
        </p:nvSpPr>
        <p:spPr>
          <a:xfrm>
            <a:off x="3943350" y="2343150"/>
            <a:ext cx="3429000" cy="91440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逻辑回归基线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建立简单、透明的对照</a:t>
            </a:r>
          </a:p>
        </p:txBody>
      </p:sp>
      <p:sp>
        <p:nvSpPr>
          <p:cNvPr id="6" name="LightGBM或CatBoost">
            <a:extLst>
              <a:ext uri="{FF2B5EF4-FFF2-40B4-BE49-F238E27FC236}">
                <a16:creationId xmlns:a16="http://schemas.microsoft.com/office/drawing/2014/main" id="{D3B21D24-BED2-4E8E-B89F-37FEA1AA0986}"/>
              </a:ext>
            </a:extLst>
          </p:cNvPr>
          <p:cNvSpPr>
            <a:spLocks noGrp="1"/>
          </p:cNvSpPr>
          <p:nvPr/>
        </p:nvSpPr>
        <p:spPr>
          <a:xfrm>
            <a:off x="3943350" y="4029075"/>
            <a:ext cx="3429000" cy="99060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LightGBM或CatBoost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学习非线性与特征交互</a:t>
            </a:r>
          </a:p>
        </p:txBody>
      </p:sp>
      <p:sp>
        <p:nvSpPr>
          <p:cNvPr id="7" name="基线评价结果">
            <a:extLst>
              <a:ext uri="{FF2B5EF4-FFF2-40B4-BE49-F238E27FC236}">
                <a16:creationId xmlns:a16="http://schemas.microsoft.com/office/drawing/2014/main" id="{43643897-5C80-4CF5-B185-5CDA824102A1}"/>
              </a:ext>
            </a:extLst>
          </p:cNvPr>
          <p:cNvSpPr>
            <a:spLocks noGrp="1"/>
          </p:cNvSpPr>
          <p:nvPr/>
        </p:nvSpPr>
        <p:spPr>
          <a:xfrm>
            <a:off x="8420100" y="2343150"/>
            <a:ext cx="3162300" cy="91440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基线评价结果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检验复杂模型</a:t>
            </a:r>
            <a:b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是否有稳定增量</a:t>
            </a:r>
          </a:p>
        </p:txBody>
      </p:sp>
      <p:sp>
        <p:nvSpPr>
          <p:cNvPr id="8" name="统计分支结果">
            <a:extLst>
              <a:ext uri="{FF2B5EF4-FFF2-40B4-BE49-F238E27FC236}">
                <a16:creationId xmlns:a16="http://schemas.microsoft.com/office/drawing/2014/main" id="{C5AD5F94-BFC1-4532-8511-65D38C569000}"/>
              </a:ext>
            </a:extLst>
          </p:cNvPr>
          <p:cNvSpPr>
            <a:spLocks noGrp="1"/>
          </p:cNvSpPr>
          <p:nvPr/>
        </p:nvSpPr>
        <p:spPr>
          <a:xfrm>
            <a:off x="8420100" y="4029075"/>
            <a:ext cx="3162300" cy="99060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统计分支结果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原始分数，校准后</a:t>
            </a:r>
            <a:b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形成分支上涨概率</a:t>
            </a:r>
          </a:p>
        </p:txBody>
      </p:sp>
      <p:sp>
        <p:nvSpPr>
          <p:cNvPr id="13" name="分支结果的使用条件">
            <a:extLst>
              <a:ext uri="{FF2B5EF4-FFF2-40B4-BE49-F238E27FC236}">
                <a16:creationId xmlns:a16="http://schemas.microsoft.com/office/drawing/2014/main" id="{B2934B5E-A912-478C-B3D4-AD09BBAAE62C}"/>
              </a:ext>
            </a:extLst>
          </p:cNvPr>
          <p:cNvSpPr>
            <a:spLocks noGrp="1"/>
          </p:cNvSpPr>
          <p:nvPr/>
        </p:nvSpPr>
        <p:spPr>
          <a:xfrm>
            <a:off x="609600" y="537210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分支结果的使用条件</a:t>
            </a:r>
          </a:p>
        </p:txBody>
      </p:sp>
      <p:sp>
        <p:nvSpPr>
          <p:cNvPr id="14" name="事件、量价资金分别训练。基本面满足样本和标签条件时才">
            <a:extLst>
              <a:ext uri="{FF2B5EF4-FFF2-40B4-BE49-F238E27FC236}">
                <a16:creationId xmlns:a16="http://schemas.microsoft.com/office/drawing/2014/main" id="{8D174E5F-25EA-434B-BA61-3991C94657E2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事件、量价资金分别训练。基本面满足样本和标签条件时才输出分支概率；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行业背景与位置拥挤保留为非概率特征。</a:t>
            </a:r>
          </a:p>
        </p:txBody>
      </p:sp>
    </p:spTree>
    <p:extLst>
      <p:ext uri="{BB962C8B-B14F-4D97-AF65-F5344CB8AC3E}">
        <p14:creationId xmlns:p14="http://schemas.microsoft.com/office/powerpoint/2010/main" val="18323404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95D97201-BAE5-4461-AD9F-C4B119A65183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6096000" y="4305300"/>
            <a:ext cx="0" cy="55245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BCBF0843-058B-4DC1-B505-46C23F2C2991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096000" y="2524125"/>
            <a:ext cx="2971800" cy="733425"/>
          </a:xfrm>
          <a:prstGeom prst="bentConnector4">
            <a:avLst>
              <a:gd name="adj1" fmla="val 0"/>
              <a:gd name="adj2" fmla="val 50000"/>
            </a:avLst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A0D92E7E-9617-4451-93C7-47C32B1AD3FC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3124200" y="2524125"/>
            <a:ext cx="2971800" cy="733425"/>
          </a:xfrm>
          <a:prstGeom prst="bentConnector4">
            <a:avLst>
              <a:gd name="adj1" fmla="val 0"/>
              <a:gd name="adj2" fmla="val 50000"/>
            </a:avLst>
          </a:prstGeom>
          <a:ln w="14288">
            <a:solidFill>
              <a:srgbClr val="65717D"/>
            </a:solidFill>
            <a:tailEnd type="triangle" w="sm" len="sm"/>
          </a:ln>
        </p:spPr>
      </p:cxnSp>
      <p:sp>
        <p:nvSpPr>
          <p:cNvPr id="11" name="分支结果与背景特征的融合">
            <a:extLst>
              <a:ext uri="{FF2B5EF4-FFF2-40B4-BE49-F238E27FC236}">
                <a16:creationId xmlns:a16="http://schemas.microsoft.com/office/drawing/2014/main" id="{0C6AA28B-B431-40BC-93E1-AFE08FABC7D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rPr>
              <a:t>分支结果与背景特征的融合</a:t>
            </a:r>
          </a:p>
        </p:txBody>
      </p:sp>
      <p:sp>
        <p:nvSpPr>
          <p:cNvPr id="2" name="19">
            <a:extLst>
              <a:ext uri="{FF2B5EF4-FFF2-40B4-BE49-F238E27FC236}">
                <a16:creationId xmlns:a16="http://schemas.microsoft.com/office/drawing/2014/main" id="{9F1DFAE0-572B-4AD8-9E7C-F6620B80F8B7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3" name="已校准的分支结果">
            <a:extLst>
              <a:ext uri="{FF2B5EF4-FFF2-40B4-BE49-F238E27FC236}">
                <a16:creationId xmlns:a16="http://schemas.microsoft.com/office/drawing/2014/main" id="{8AC2CB9F-5A4F-47D9-8B95-91269C231B74}"/>
              </a:ext>
            </a:extLst>
          </p:cNvPr>
          <p:cNvSpPr>
            <a:spLocks noGrp="1"/>
          </p:cNvSpPr>
          <p:nvPr/>
        </p:nvSpPr>
        <p:spPr>
          <a:xfrm>
            <a:off x="609600" y="1476375"/>
            <a:ext cx="5029200" cy="104775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已校准的分支结果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事件、量价资金及</a:t>
            </a:r>
            <a:b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满足训练条件的基本面</a:t>
            </a:r>
          </a:p>
        </p:txBody>
      </p:sp>
      <p:sp>
        <p:nvSpPr>
          <p:cNvPr id="4" name="非概率背景特征">
            <a:extLst>
              <a:ext uri="{FF2B5EF4-FFF2-40B4-BE49-F238E27FC236}">
                <a16:creationId xmlns:a16="http://schemas.microsoft.com/office/drawing/2014/main" id="{656B5945-90B0-409D-9135-45B9BB683FB8}"/>
              </a:ext>
            </a:extLst>
          </p:cNvPr>
          <p:cNvSpPr>
            <a:spLocks noGrp="1"/>
          </p:cNvSpPr>
          <p:nvPr/>
        </p:nvSpPr>
        <p:spPr>
          <a:xfrm>
            <a:off x="6553200" y="1476375"/>
            <a:ext cx="5029200" cy="104775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非概率背景特征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行业与产业关系、位置拥挤</a:t>
            </a:r>
            <a:b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及少量经过验证的交互特征</a:t>
            </a:r>
          </a:p>
        </p:txBody>
      </p:sp>
      <p:sp>
        <p:nvSpPr>
          <p:cNvPr id="5" name="约束逻辑回归Stacking">
            <a:extLst>
              <a:ext uri="{FF2B5EF4-FFF2-40B4-BE49-F238E27FC236}">
                <a16:creationId xmlns:a16="http://schemas.microsoft.com/office/drawing/2014/main" id="{55E0981D-4761-48AF-A753-F4122AFE02D3}"/>
              </a:ext>
            </a:extLst>
          </p:cNvPr>
          <p:cNvSpPr>
            <a:spLocks noGrp="1"/>
          </p:cNvSpPr>
          <p:nvPr/>
        </p:nvSpPr>
        <p:spPr>
          <a:xfrm>
            <a:off x="2619375" y="3257550"/>
            <a:ext cx="6953250" cy="104775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约束逻辑回归Stacking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比较历史标签，学习各输入的有效份量</a:t>
            </a:r>
            <a:b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上涨、超额收益和下行风险分别训练</a:t>
            </a:r>
          </a:p>
        </p:txBody>
      </p:sp>
      <p:sp>
        <p:nvSpPr>
          <p:cNvPr id="6" name="三个原始输出">
            <a:extLst>
              <a:ext uri="{FF2B5EF4-FFF2-40B4-BE49-F238E27FC236}">
                <a16:creationId xmlns:a16="http://schemas.microsoft.com/office/drawing/2014/main" id="{E5138D07-425F-4681-B9A9-334FF2A3EFD7}"/>
              </a:ext>
            </a:extLst>
          </p:cNvPr>
          <p:cNvSpPr>
            <a:spLocks noGrp="1"/>
          </p:cNvSpPr>
          <p:nvPr/>
        </p:nvSpPr>
        <p:spPr>
          <a:xfrm>
            <a:off x="2619375" y="4857750"/>
            <a:ext cx="6953250" cy="85725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三个原始输出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分别送入对应校准器，形成最终参考概率</a:t>
            </a:r>
          </a:p>
        </p:txBody>
      </p:sp>
      <p:sp>
        <p:nvSpPr>
          <p:cNvPr id="10" name="融合训练只接受分支在未参与其拟合样本上的结果。组合份">
            <a:extLst>
              <a:ext uri="{FF2B5EF4-FFF2-40B4-BE49-F238E27FC236}">
                <a16:creationId xmlns:a16="http://schemas.microsoft.com/office/drawing/2014/main" id="{07F6B1B1-119F-4B47-8754-B3DB12713767}"/>
              </a:ext>
            </a:extLst>
          </p:cNvPr>
          <p:cNvSpPr>
            <a:spLocks noGrp="1"/>
          </p:cNvSpPr>
          <p:nvPr/>
        </p:nvSpPr>
        <p:spPr>
          <a:xfrm>
            <a:off x="609600" y="600075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融合训练只接受分支在未参与其拟合样本上的结果。组合份量由历史数据学习，不临时手工调权。</a:t>
            </a:r>
          </a:p>
        </p:txBody>
      </p:sp>
    </p:spTree>
    <p:extLst>
      <p:ext uri="{BB962C8B-B14F-4D97-AF65-F5344CB8AC3E}">
        <p14:creationId xmlns:p14="http://schemas.microsoft.com/office/powerpoint/2010/main" val="6757239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52C3D0B2-5D69-45E0-8990-787CDADCDF62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8767763" y="1957388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BF5C206E-4372-4F15-B1D3-EE245BEB6982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5953126" y="1957388"/>
            <a:ext cx="285749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62F1CAEA-3FA4-4E64-84E6-0B14750B3C5E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3138488" y="1957388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sp>
        <p:nvSpPr>
          <p:cNvPr id="16" name="概率校准的处理过程">
            <a:extLst>
              <a:ext uri="{FF2B5EF4-FFF2-40B4-BE49-F238E27FC236}">
                <a16:creationId xmlns:a16="http://schemas.microsoft.com/office/drawing/2014/main" id="{D4175DBF-A8A8-4464-A466-29F2F935CA0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rPr>
              <a:t>概率校准的处理过程</a:t>
            </a:r>
          </a:p>
        </p:txBody>
      </p:sp>
      <p:sp>
        <p:nvSpPr>
          <p:cNvPr id="2" name="20">
            <a:extLst>
              <a:ext uri="{FF2B5EF4-FFF2-40B4-BE49-F238E27FC236}">
                <a16:creationId xmlns:a16="http://schemas.microsoft.com/office/drawing/2014/main" id="{7F4D1885-16FC-4173-8FF9-39FEB2B4BCDA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" name="验证期原始分数">
            <a:extLst>
              <a:ext uri="{FF2B5EF4-FFF2-40B4-BE49-F238E27FC236}">
                <a16:creationId xmlns:a16="http://schemas.microsoft.com/office/drawing/2014/main" id="{5CB1B979-2FAC-48F6-AA0B-0E76DC7BCFCC}"/>
              </a:ext>
            </a:extLst>
          </p:cNvPr>
          <p:cNvSpPr>
            <a:spLocks noGrp="1"/>
          </p:cNvSpPr>
          <p:nvPr/>
        </p:nvSpPr>
        <p:spPr>
          <a:xfrm>
            <a:off x="609600" y="1419225"/>
            <a:ext cx="2528888" cy="1076325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验证期原始分数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读取冻结模型输出</a:t>
            </a:r>
          </a:p>
        </p:txBody>
      </p:sp>
      <p:sp>
        <p:nvSpPr>
          <p:cNvPr id="4" name="对应真实结果">
            <a:extLst>
              <a:ext uri="{FF2B5EF4-FFF2-40B4-BE49-F238E27FC236}">
                <a16:creationId xmlns:a16="http://schemas.microsoft.com/office/drawing/2014/main" id="{62C1E1AA-B9B0-4749-9338-411EB09F424A}"/>
              </a:ext>
            </a:extLst>
          </p:cNvPr>
          <p:cNvSpPr>
            <a:spLocks noGrp="1"/>
          </p:cNvSpPr>
          <p:nvPr/>
        </p:nvSpPr>
        <p:spPr>
          <a:xfrm>
            <a:off x="3424238" y="1419225"/>
            <a:ext cx="2528888" cy="1076325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对应真实结果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统计同类样本表现</a:t>
            </a:r>
          </a:p>
        </p:txBody>
      </p:sp>
      <p:sp>
        <p:nvSpPr>
          <p:cNvPr id="5" name="学习单调映射">
            <a:extLst>
              <a:ext uri="{FF2B5EF4-FFF2-40B4-BE49-F238E27FC236}">
                <a16:creationId xmlns:a16="http://schemas.microsoft.com/office/drawing/2014/main" id="{7EE88076-2A20-4F65-8D84-39C482DF6FCD}"/>
              </a:ext>
            </a:extLst>
          </p:cNvPr>
          <p:cNvSpPr>
            <a:spLocks noGrp="1"/>
          </p:cNvSpPr>
          <p:nvPr/>
        </p:nvSpPr>
        <p:spPr>
          <a:xfrm>
            <a:off x="6238875" y="1419225"/>
            <a:ext cx="2528888" cy="1076325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学习单调映射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分数转换为概率</a:t>
            </a:r>
          </a:p>
        </p:txBody>
      </p:sp>
      <p:sp>
        <p:nvSpPr>
          <p:cNvPr id="6" name="冻结用于生产">
            <a:extLst>
              <a:ext uri="{FF2B5EF4-FFF2-40B4-BE49-F238E27FC236}">
                <a16:creationId xmlns:a16="http://schemas.microsoft.com/office/drawing/2014/main" id="{8FC24F50-D554-4F5C-AD9C-F78382E13B6F}"/>
              </a:ext>
            </a:extLst>
          </p:cNvPr>
          <p:cNvSpPr>
            <a:spLocks noGrp="1"/>
          </p:cNvSpPr>
          <p:nvPr/>
        </p:nvSpPr>
        <p:spPr>
          <a:xfrm>
            <a:off x="9053513" y="1419225"/>
            <a:ext cx="2528888" cy="1076325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冻结用于生产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记录模型与校准版本</a:t>
            </a:r>
          </a:p>
        </p:txBody>
      </p:sp>
      <p:graphicFrame>
        <p:nvGraphicFramePr>
          <p:cNvPr id="10" name="内容比较表">
            <a:extLst>
              <a:ext uri="{FF2B5EF4-FFF2-40B4-BE49-F238E27FC236}">
                <a16:creationId xmlns:a16="http://schemas.microsoft.com/office/drawing/2014/main" id="{EEAFBF63-AE5E-4981-AAA6-5FAD19357AA3}"/>
              </a:ext>
            </a:extLst>
          </p:cNvPr>
          <p:cNvGraphicFramePr/>
          <p:nvPr/>
        </p:nvGraphicFramePr>
        <p:xfrm>
          <a:off x="609600" y="3028950"/>
          <a:ext cx="10972800" cy="220980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2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计算原理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选择条件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Platt校准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学习平滑、单调的分数到概率曲线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适用于映射较平滑的样本关系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Isotonic校准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学习保持单调的分段映射，不预设曲线形状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样本充分时，比较两种方法的验证结果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59BB0EBD-AE37-4303-8555-5BE43410D3DC}"/>
              </a:ext>
            </a:extLst>
          </p:cNvPr>
          <p:cNvSpPr>
            <a:spLocks noGrp="1"/>
          </p:cNvSpPr>
          <p:nvPr/>
        </p:nvSpPr>
        <p:spPr>
          <a:xfrm>
            <a:off x="609600" y="3028950"/>
            <a:ext cx="10972800" cy="0"/>
          </a:xfrm>
          <a:prstGeom prst="line">
            <a:avLst/>
          </a:prstGeom>
          <a:noFill/>
          <a:ln w="13335">
            <a:solidFill>
              <a:srgbClr val="203C59"/>
            </a:solidFill>
          </a:ln>
        </p:spPr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071A7E32-2E05-4B49-88EE-C2CBF8967F2A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10972800" cy="0"/>
          </a:xfrm>
          <a:prstGeom prst="line">
            <a:avLst/>
          </a:prstGeom>
          <a:noFill/>
          <a:ln w="9525">
            <a:solidFill>
              <a:srgbClr val="203C59"/>
            </a:solidFill>
          </a:ln>
        </p:spPr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6BF5C7AE-CEB5-4257-A56C-1D098AC8745C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10972800" cy="0"/>
          </a:xfrm>
          <a:prstGeom prst="line">
            <a:avLst/>
          </a:prstGeom>
          <a:noFill/>
          <a:ln w="13335">
            <a:solidFill>
              <a:srgbClr val="203C59"/>
            </a:solidFill>
          </a:ln>
        </p:spPr>
      </p:sp>
      <p:sp>
        <p:nvSpPr>
          <p:cNvPr id="14" name="校准的目的">
            <a:extLst>
              <a:ext uri="{FF2B5EF4-FFF2-40B4-BE49-F238E27FC236}">
                <a16:creationId xmlns:a16="http://schemas.microsoft.com/office/drawing/2014/main" id="{8954148C-8DC1-4BFC-8185-EE381831FC57}"/>
              </a:ext>
            </a:extLst>
          </p:cNvPr>
          <p:cNvSpPr>
            <a:spLocks noGrp="1"/>
          </p:cNvSpPr>
          <p:nvPr/>
        </p:nvSpPr>
        <p:spPr>
          <a:xfrm>
            <a:off x="609600" y="549592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校准的目的</a:t>
            </a:r>
          </a:p>
        </p:txBody>
      </p:sp>
      <p:sp>
        <p:nvSpPr>
          <p:cNvPr id="15" name="让相近概率的历史样本具有相近的实际发生频率。方法按独">
            <a:extLst>
              <a:ext uri="{FF2B5EF4-FFF2-40B4-BE49-F238E27FC236}">
                <a16:creationId xmlns:a16="http://schemas.microsoft.com/office/drawing/2014/main" id="{E88A970A-8B22-462A-BF2C-931DDDD6F655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让相近概率的历史样本具有相近的实际发生频率。方法按独立验证表现选择，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测试期和未来结果不参与校准。</a:t>
            </a:r>
          </a:p>
        </p:txBody>
      </p:sp>
    </p:spTree>
    <p:extLst>
      <p:ext uri="{BB962C8B-B14F-4D97-AF65-F5344CB8AC3E}">
        <p14:creationId xmlns:p14="http://schemas.microsoft.com/office/powerpoint/2010/main" val="1188875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1955F62-A05C-4B43-B914-8F658ABCC925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8767763" y="1947863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ABC9B14E-3496-4E0F-911A-1DF4ACD6A3BE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5953126" y="1947863"/>
            <a:ext cx="285749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8CF8C63F-302B-43FE-9C12-5805559C0B7B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3138488" y="1947863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sp>
        <p:nvSpPr>
          <p:cNvPr id="15" name="量化结果的独立检验">
            <a:extLst>
              <a:ext uri="{FF2B5EF4-FFF2-40B4-BE49-F238E27FC236}">
                <a16:creationId xmlns:a16="http://schemas.microsoft.com/office/drawing/2014/main" id="{5BA1F6E0-BF5F-450E-BF2E-849EC128146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rPr>
              <a:t>量化结果的独立检验</a:t>
            </a:r>
          </a:p>
        </p:txBody>
      </p:sp>
      <p:sp>
        <p:nvSpPr>
          <p:cNvPr id="2" name="21">
            <a:extLst>
              <a:ext uri="{FF2B5EF4-FFF2-40B4-BE49-F238E27FC236}">
                <a16:creationId xmlns:a16="http://schemas.microsoft.com/office/drawing/2014/main" id="{2B0906CD-9C15-45FB-959F-85F3E48BF304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3" name="训练期">
            <a:extLst>
              <a:ext uri="{FF2B5EF4-FFF2-40B4-BE49-F238E27FC236}">
                <a16:creationId xmlns:a16="http://schemas.microsoft.com/office/drawing/2014/main" id="{248C76AF-A014-4E93-876A-D0A2B1B5D7E7}"/>
              </a:ext>
            </a:extLst>
          </p:cNvPr>
          <p:cNvSpPr>
            <a:spLocks noGrp="1"/>
          </p:cNvSpPr>
          <p:nvPr/>
        </p:nvSpPr>
        <p:spPr>
          <a:xfrm>
            <a:off x="609600" y="1409700"/>
            <a:ext cx="2528888" cy="1076325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训练期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学习模型参数</a:t>
            </a:r>
          </a:p>
        </p:txBody>
      </p:sp>
      <p:sp>
        <p:nvSpPr>
          <p:cNvPr id="4" name="验证期">
            <a:extLst>
              <a:ext uri="{FF2B5EF4-FFF2-40B4-BE49-F238E27FC236}">
                <a16:creationId xmlns:a16="http://schemas.microsoft.com/office/drawing/2014/main" id="{6B91BC45-DD5A-411B-A9E6-73B5BB7CAC03}"/>
              </a:ext>
            </a:extLst>
          </p:cNvPr>
          <p:cNvSpPr>
            <a:spLocks noGrp="1"/>
          </p:cNvSpPr>
          <p:nvPr/>
        </p:nvSpPr>
        <p:spPr>
          <a:xfrm>
            <a:off x="3424238" y="1409700"/>
            <a:ext cx="2528888" cy="1076325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验证期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选择特征与校准方法</a:t>
            </a:r>
          </a:p>
        </p:txBody>
      </p:sp>
      <p:sp>
        <p:nvSpPr>
          <p:cNvPr id="5" name="隔离测试期">
            <a:extLst>
              <a:ext uri="{FF2B5EF4-FFF2-40B4-BE49-F238E27FC236}">
                <a16:creationId xmlns:a16="http://schemas.microsoft.com/office/drawing/2014/main" id="{EC67670F-3346-4F69-BAA1-4EE868545D84}"/>
              </a:ext>
            </a:extLst>
          </p:cNvPr>
          <p:cNvSpPr>
            <a:spLocks noGrp="1"/>
          </p:cNvSpPr>
          <p:nvPr/>
        </p:nvSpPr>
        <p:spPr>
          <a:xfrm>
            <a:off x="6238875" y="1409700"/>
            <a:ext cx="2528888" cy="1076325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隔离测试期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评价概率与排序质量</a:t>
            </a:r>
          </a:p>
        </p:txBody>
      </p:sp>
      <p:sp>
        <p:nvSpPr>
          <p:cNvPr id="6" name="版本比较">
            <a:extLst>
              <a:ext uri="{FF2B5EF4-FFF2-40B4-BE49-F238E27FC236}">
                <a16:creationId xmlns:a16="http://schemas.microsoft.com/office/drawing/2014/main" id="{832B25C0-CCD7-429A-B4AD-3D74FF877FCA}"/>
              </a:ext>
            </a:extLst>
          </p:cNvPr>
          <p:cNvSpPr>
            <a:spLocks noGrp="1"/>
          </p:cNvSpPr>
          <p:nvPr/>
        </p:nvSpPr>
        <p:spPr>
          <a:xfrm>
            <a:off x="9053513" y="1409700"/>
            <a:ext cx="2528888" cy="1076325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版本比较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检验稳定增量</a:t>
            </a:r>
          </a:p>
        </p:txBody>
      </p:sp>
      <p:graphicFrame>
        <p:nvGraphicFramePr>
          <p:cNvPr id="10" name="内容比较表">
            <a:extLst>
              <a:ext uri="{FF2B5EF4-FFF2-40B4-BE49-F238E27FC236}">
                <a16:creationId xmlns:a16="http://schemas.microsoft.com/office/drawing/2014/main" id="{6C6F280C-1904-4AD6-A298-30A92873DB9E}"/>
              </a:ext>
            </a:extLst>
          </p:cNvPr>
          <p:cNvGraphicFramePr/>
          <p:nvPr/>
        </p:nvGraphicFramePr>
        <p:xfrm>
          <a:off x="609600" y="2809875"/>
          <a:ext cx="10972800" cy="316230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评价对象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检查原理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检验意义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53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概率质量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Brier Score检查整体预测误差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ECE比较概率分组与实际频率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判断概率尺度是否可信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53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排序质量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Precision@10检查前列命中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NDCG检查排序质量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判断前列候选的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历史表现是否更优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53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信息增量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与简单基线和上一版本比较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再逐组移除特征，检验独立增量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检查新增信息是否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带来稳定改善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6EBF2361-5D3A-465F-A3B0-6EFF5828D6EE}"/>
              </a:ext>
            </a:extLst>
          </p:cNvPr>
          <p:cNvSpPr>
            <a:spLocks noGrp="1"/>
          </p:cNvSpPr>
          <p:nvPr/>
        </p:nvSpPr>
        <p:spPr>
          <a:xfrm>
            <a:off x="609600" y="2809875"/>
            <a:ext cx="10972800" cy="0"/>
          </a:xfrm>
          <a:prstGeom prst="line">
            <a:avLst/>
          </a:prstGeom>
          <a:noFill/>
          <a:ln w="13335">
            <a:solidFill>
              <a:srgbClr val="203C59"/>
            </a:solidFill>
          </a:ln>
        </p:spPr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6B053C23-BC54-4FA7-9B0A-9679C7BD8866}"/>
              </a:ext>
            </a:extLst>
          </p:cNvPr>
          <p:cNvSpPr>
            <a:spLocks noGrp="1"/>
          </p:cNvSpPr>
          <p:nvPr/>
        </p:nvSpPr>
        <p:spPr>
          <a:xfrm>
            <a:off x="609600" y="3286125"/>
            <a:ext cx="10972800" cy="0"/>
          </a:xfrm>
          <a:prstGeom prst="line">
            <a:avLst/>
          </a:prstGeom>
          <a:noFill/>
          <a:ln w="9525">
            <a:solidFill>
              <a:srgbClr val="203C59"/>
            </a:solidFill>
          </a:ln>
        </p:spPr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C8B9C2EF-55B0-45D4-8486-9FB682E7FEFB}"/>
              </a:ext>
            </a:extLst>
          </p:cNvPr>
          <p:cNvSpPr>
            <a:spLocks noGrp="1"/>
          </p:cNvSpPr>
          <p:nvPr/>
        </p:nvSpPr>
        <p:spPr>
          <a:xfrm>
            <a:off x="609600" y="5972175"/>
            <a:ext cx="10972800" cy="0"/>
          </a:xfrm>
          <a:prstGeom prst="line">
            <a:avLst/>
          </a:prstGeom>
          <a:noFill/>
          <a:ln w="13335">
            <a:solidFill>
              <a:srgbClr val="203C59"/>
            </a:solidFill>
          </a:ln>
        </p:spPr>
      </p:sp>
      <p:sp>
        <p:nvSpPr>
          <p:cNvPr id="14" name="测试期仅用于最终评价，不参与调权或校准。历史收益描述">
            <a:extLst>
              <a:ext uri="{FF2B5EF4-FFF2-40B4-BE49-F238E27FC236}">
                <a16:creationId xmlns:a16="http://schemas.microsoft.com/office/drawing/2014/main" id="{5D2A9163-DDF7-4CEA-9976-C3ACAD589460}"/>
              </a:ext>
            </a:extLst>
          </p:cNvPr>
          <p:cNvSpPr>
            <a:spLocks noGrp="1"/>
          </p:cNvSpPr>
          <p:nvPr/>
        </p:nvSpPr>
        <p:spPr>
          <a:xfrm>
            <a:off x="609600" y="6162675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测试期仅用于最终评价，不参与调权或校准。历史收益描述后续行情，不等于可实现的交易收益。</a:t>
            </a:r>
          </a:p>
        </p:txBody>
      </p:sp>
    </p:spTree>
    <p:extLst>
      <p:ext uri="{BB962C8B-B14F-4D97-AF65-F5344CB8AC3E}">
        <p14:creationId xmlns:p14="http://schemas.microsoft.com/office/powerpoint/2010/main" val="335921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08051FB-FE3B-4FC0-8D9D-E9C964FF186B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8767763" y="2047875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E0F53EC-500D-46E1-8F94-CC215C4120A6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5953126" y="2047875"/>
            <a:ext cx="285749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83DFC53-2F67-49DE-8B2B-318E3D0E2339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3138488" y="2047875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sp>
        <p:nvSpPr>
          <p:cNvPr id="15" name="量化参考排序与名单发布">
            <a:extLst>
              <a:ext uri="{FF2B5EF4-FFF2-40B4-BE49-F238E27FC236}">
                <a16:creationId xmlns:a16="http://schemas.microsoft.com/office/drawing/2014/main" id="{F9E069D8-2809-40BA-B553-EAEBBA62D77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rPr>
              <a:t>量化参考排序与名单发布</a:t>
            </a:r>
          </a:p>
        </p:txBody>
      </p:sp>
      <p:sp>
        <p:nvSpPr>
          <p:cNvPr id="2" name="22">
            <a:extLst>
              <a:ext uri="{FF2B5EF4-FFF2-40B4-BE49-F238E27FC236}">
                <a16:creationId xmlns:a16="http://schemas.microsoft.com/office/drawing/2014/main" id="{4D46BECA-5ADB-4832-A1C6-7AF0023F756D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3" name="研究与风险门">
            <a:extLst>
              <a:ext uri="{FF2B5EF4-FFF2-40B4-BE49-F238E27FC236}">
                <a16:creationId xmlns:a16="http://schemas.microsoft.com/office/drawing/2014/main" id="{74FD7CAA-0CA8-45DA-838C-D0D393D95F15}"/>
              </a:ext>
            </a:extLst>
          </p:cNvPr>
          <p:cNvSpPr>
            <a:spLocks noGrp="1"/>
          </p:cNvSpPr>
          <p:nvPr/>
        </p:nvSpPr>
        <p:spPr>
          <a:xfrm>
            <a:off x="609600" y="1476375"/>
            <a:ext cx="2528888" cy="114300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研究与风险门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只保留已通过</a:t>
            </a:r>
            <a:b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复核的候选</a:t>
            </a:r>
          </a:p>
        </p:txBody>
      </p:sp>
      <p:sp>
        <p:nvSpPr>
          <p:cNvPr id="4" name="主概率排序">
            <a:extLst>
              <a:ext uri="{FF2B5EF4-FFF2-40B4-BE49-F238E27FC236}">
                <a16:creationId xmlns:a16="http://schemas.microsoft.com/office/drawing/2014/main" id="{23E2389F-CBCF-4CF8-BD6F-44D69D5A6895}"/>
              </a:ext>
            </a:extLst>
          </p:cNvPr>
          <p:cNvSpPr>
            <a:spLocks noGrp="1"/>
          </p:cNvSpPr>
          <p:nvPr/>
        </p:nvSpPr>
        <p:spPr>
          <a:xfrm>
            <a:off x="3424238" y="1476375"/>
            <a:ext cx="2528888" cy="114300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主概率排序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T+1上涨校准概率</a:t>
            </a:r>
          </a:p>
        </p:txBody>
      </p:sp>
      <p:sp>
        <p:nvSpPr>
          <p:cNvPr id="5" name="并列处理">
            <a:extLst>
              <a:ext uri="{FF2B5EF4-FFF2-40B4-BE49-F238E27FC236}">
                <a16:creationId xmlns:a16="http://schemas.microsoft.com/office/drawing/2014/main" id="{106025DC-5016-49C7-AAAA-9726654A7478}"/>
              </a:ext>
            </a:extLst>
          </p:cNvPr>
          <p:cNvSpPr>
            <a:spLocks noGrp="1"/>
          </p:cNvSpPr>
          <p:nvPr/>
        </p:nvSpPr>
        <p:spPr>
          <a:xfrm>
            <a:off x="6238875" y="1476375"/>
            <a:ext cx="2528888" cy="114300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并列处理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超额收益与</a:t>
            </a:r>
            <a:b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较低下行风险</a:t>
            </a:r>
          </a:p>
        </p:txBody>
      </p:sp>
      <p:sp>
        <p:nvSpPr>
          <p:cNvPr id="6" name="观察名单">
            <a:extLst>
              <a:ext uri="{FF2B5EF4-FFF2-40B4-BE49-F238E27FC236}">
                <a16:creationId xmlns:a16="http://schemas.microsoft.com/office/drawing/2014/main" id="{0D2568E0-D54D-4FEC-BAF9-F37C64D5C0FA}"/>
              </a:ext>
            </a:extLst>
          </p:cNvPr>
          <p:cNvSpPr>
            <a:spLocks noGrp="1"/>
          </p:cNvSpPr>
          <p:nvPr/>
        </p:nvSpPr>
        <p:spPr>
          <a:xfrm>
            <a:off x="9053513" y="1476375"/>
            <a:ext cx="2528888" cy="114300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观察名单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0至10只及公司研究卡</a:t>
            </a:r>
          </a:p>
        </p:txBody>
      </p:sp>
      <p:sp>
        <p:nvSpPr>
          <p:cNvPr id="10" name="排序口径">
            <a:extLst>
              <a:ext uri="{FF2B5EF4-FFF2-40B4-BE49-F238E27FC236}">
                <a16:creationId xmlns:a16="http://schemas.microsoft.com/office/drawing/2014/main" id="{664928F6-3D57-45B2-AB15-E7529EBA9A7C}"/>
              </a:ext>
            </a:extLst>
          </p:cNvPr>
          <p:cNvSpPr>
            <a:spLocks noGrp="1"/>
          </p:cNvSpPr>
          <p:nvPr/>
        </p:nvSpPr>
        <p:spPr>
          <a:xfrm>
            <a:off x="609600" y="313372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排序口径</a:t>
            </a:r>
          </a:p>
        </p:txBody>
      </p:sp>
      <p:sp>
        <p:nvSpPr>
          <p:cNvPr id="11" name="通过研究复核的候选按冻结的T+1上涨概率展示。主概率">
            <a:extLst>
              <a:ext uri="{FF2B5EF4-FFF2-40B4-BE49-F238E27FC236}">
                <a16:creationId xmlns:a16="http://schemas.microsoft.com/office/drawing/2014/main" id="{29A5A8F5-18BF-4B8D-9586-D994A50A2A5F}"/>
              </a:ext>
            </a:extLst>
          </p:cNvPr>
          <p:cNvSpPr>
            <a:spLocks noGrp="1"/>
          </p:cNvSpPr>
          <p:nvPr/>
        </p:nvSpPr>
        <p:spPr>
          <a:xfrm>
            <a:off x="609600" y="3552825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通过研究复核的候选按冻结的T+1上涨概率展示。主概率差异不足以形成稳定顺序时，依次参考超额收益概率、较低下行风险和可靠程度。</a:t>
            </a:r>
          </a:p>
        </p:txBody>
      </p:sp>
      <p:sp>
        <p:nvSpPr>
          <p:cNvPr id="12" name="事实更正的处理">
            <a:extLst>
              <a:ext uri="{FF2B5EF4-FFF2-40B4-BE49-F238E27FC236}">
                <a16:creationId xmlns:a16="http://schemas.microsoft.com/office/drawing/2014/main" id="{67A3604B-DE43-4514-A726-B0BD395958B1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事实更正的处理</a:t>
            </a:r>
          </a:p>
        </p:txBody>
      </p:sp>
      <p:sp>
        <p:nvSpPr>
          <p:cNvPr id="13" name="P2或P3发现事实错误后，更正结构化字段，再调用同一">
            <a:extLst>
              <a:ext uri="{FF2B5EF4-FFF2-40B4-BE49-F238E27FC236}">
                <a16:creationId xmlns:a16="http://schemas.microsoft.com/office/drawing/2014/main" id="{22D3CC2B-E93C-479D-B05F-2EED8395E5B2}"/>
              </a:ext>
            </a:extLst>
          </p:cNvPr>
          <p:cNvSpPr>
            <a:spLocks noGrp="1"/>
          </p:cNvSpPr>
          <p:nvPr/>
        </p:nvSpPr>
        <p:spPr>
          <a:xfrm>
            <a:off x="609600" y="4991100"/>
            <a:ext cx="109728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P2或P3发现事实错误后，更正结构化字段，再调用同一冻结模型和校准器复算，保留变化原因与版本。研究人员不临时手工加分。</a:t>
            </a:r>
          </a:p>
        </p:txBody>
      </p:sp>
      <p:sp>
        <p:nvSpPr>
          <p:cNvPr id="14" name="模型参考顺序不等同于公司研究价值或确定收益的顺序。">
            <a:extLst>
              <a:ext uri="{FF2B5EF4-FFF2-40B4-BE49-F238E27FC236}">
                <a16:creationId xmlns:a16="http://schemas.microsoft.com/office/drawing/2014/main" id="{5DADBF0A-0C47-46DB-A26C-D5175881A336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模型参考顺序不等同于公司研究价值或确定收益的顺序。</a:t>
            </a:r>
          </a:p>
        </p:txBody>
      </p:sp>
    </p:spTree>
    <p:extLst>
      <p:ext uri="{BB962C8B-B14F-4D97-AF65-F5344CB8AC3E}">
        <p14:creationId xmlns:p14="http://schemas.microsoft.com/office/powerpoint/2010/main" val="18882436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A57D9DA5-E5A6-492B-A537-DF945FC094B9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8767763" y="2057400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BB382B0-86E6-4C98-94EA-0381BFD3D56F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5953126" y="2057400"/>
            <a:ext cx="285749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4B224731-4C2C-48D6-A40C-A1E5C584D8AD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3138488" y="2057400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sp>
        <p:nvSpPr>
          <p:cNvPr id="15" name="SHAP贡献解释与依据追溯">
            <a:extLst>
              <a:ext uri="{FF2B5EF4-FFF2-40B4-BE49-F238E27FC236}">
                <a16:creationId xmlns:a16="http://schemas.microsoft.com/office/drawing/2014/main" id="{E2B2913D-1754-4F9F-A889-8B18855FC28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rPr>
              <a:t>SHAP贡献解释与依据追溯</a:t>
            </a:r>
          </a:p>
        </p:txBody>
      </p:sp>
      <p:sp>
        <p:nvSpPr>
          <p:cNvPr id="2" name="23">
            <a:extLst>
              <a:ext uri="{FF2B5EF4-FFF2-40B4-BE49-F238E27FC236}">
                <a16:creationId xmlns:a16="http://schemas.microsoft.com/office/drawing/2014/main" id="{B220953D-DA89-41CA-82C5-ED349F00BAA2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3" name="冻结参考状态">
            <a:extLst>
              <a:ext uri="{FF2B5EF4-FFF2-40B4-BE49-F238E27FC236}">
                <a16:creationId xmlns:a16="http://schemas.microsoft.com/office/drawing/2014/main" id="{38AC006A-8BF6-4359-B544-8384BAAC6725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2528888" cy="112395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冻结参考状态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训练期参考样本与模型</a:t>
            </a:r>
          </a:p>
        </p:txBody>
      </p:sp>
      <p:sp>
        <p:nvSpPr>
          <p:cNvPr id="4" name="计算边际贡献">
            <a:extLst>
              <a:ext uri="{FF2B5EF4-FFF2-40B4-BE49-F238E27FC236}">
                <a16:creationId xmlns:a16="http://schemas.microsoft.com/office/drawing/2014/main" id="{8B99A26D-29D2-4573-82E5-63474DF538FB}"/>
              </a:ext>
            </a:extLst>
          </p:cNvPr>
          <p:cNvSpPr>
            <a:spLocks noGrp="1"/>
          </p:cNvSpPr>
          <p:nvPr/>
        </p:nvSpPr>
        <p:spPr>
          <a:xfrm>
            <a:off x="3424238" y="1495425"/>
            <a:ext cx="2528888" cy="112395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计算边际贡献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TreeSHAP分解</a:t>
            </a:r>
            <a:b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原始模型输出</a:t>
            </a:r>
          </a:p>
        </p:txBody>
      </p:sp>
      <p:sp>
        <p:nvSpPr>
          <p:cNvPr id="5" name="五组汇总">
            <a:extLst>
              <a:ext uri="{FF2B5EF4-FFF2-40B4-BE49-F238E27FC236}">
                <a16:creationId xmlns:a16="http://schemas.microsoft.com/office/drawing/2014/main" id="{2D2DE4A7-2478-48EA-AA05-8EBEE53A48ED}"/>
              </a:ext>
            </a:extLst>
          </p:cNvPr>
          <p:cNvSpPr>
            <a:spLocks noGrp="1"/>
          </p:cNvSpPr>
          <p:nvPr/>
        </p:nvSpPr>
        <p:spPr>
          <a:xfrm>
            <a:off x="6238875" y="1495425"/>
            <a:ext cx="2528888" cy="112395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五组汇总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保留正向与负向因素</a:t>
            </a:r>
          </a:p>
        </p:txBody>
      </p:sp>
      <p:sp>
        <p:nvSpPr>
          <p:cNvPr id="6" name="回指证据">
            <a:extLst>
              <a:ext uri="{FF2B5EF4-FFF2-40B4-BE49-F238E27FC236}">
                <a16:creationId xmlns:a16="http://schemas.microsoft.com/office/drawing/2014/main" id="{F5D4AFAC-35C7-4C15-99A5-1F09AD494960}"/>
              </a:ext>
            </a:extLst>
          </p:cNvPr>
          <p:cNvSpPr>
            <a:spLocks noGrp="1"/>
          </p:cNvSpPr>
          <p:nvPr/>
        </p:nvSpPr>
        <p:spPr>
          <a:xfrm>
            <a:off x="9053513" y="1495425"/>
            <a:ext cx="2528888" cy="112395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回指证据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特征值、事件卡与原文</a:t>
            </a:r>
          </a:p>
        </p:txBody>
      </p:sp>
      <p:sp>
        <p:nvSpPr>
          <p:cNvPr id="10" name="贡献大小的含义">
            <a:extLst>
              <a:ext uri="{FF2B5EF4-FFF2-40B4-BE49-F238E27FC236}">
                <a16:creationId xmlns:a16="http://schemas.microsoft.com/office/drawing/2014/main" id="{B769E697-5614-4328-BFA9-9E4771EC2504}"/>
              </a:ext>
            </a:extLst>
          </p:cNvPr>
          <p:cNvSpPr>
            <a:spLocks noGrp="1"/>
          </p:cNvSpPr>
          <p:nvPr/>
        </p:nvSpPr>
        <p:spPr>
          <a:xfrm>
            <a:off x="609600" y="309562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贡献大小的含义</a:t>
            </a:r>
          </a:p>
        </p:txBody>
      </p:sp>
      <p:sp>
        <p:nvSpPr>
          <p:cNvPr id="11" name="树模型用TreeSHAP分解特征贡献，线性融合器按冻">
            <a:extLst>
              <a:ext uri="{FF2B5EF4-FFF2-40B4-BE49-F238E27FC236}">
                <a16:creationId xmlns:a16="http://schemas.microsoft.com/office/drawing/2014/main" id="{EFD2E95F-A8C3-48D8-B51F-029BACEEC0DF}"/>
              </a:ext>
            </a:extLst>
          </p:cNvPr>
          <p:cNvSpPr>
            <a:spLocks noGrp="1"/>
          </p:cNvSpPr>
          <p:nvPr/>
        </p:nvSpPr>
        <p:spPr>
          <a:xfrm>
            <a:off x="609600" y="3514725"/>
            <a:ext cx="10972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树模型用TreeSHAP分解特征贡献，线性融合器按冻结参考口径分解分支贡献。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正贡献提高判断，负贡献压低判断，绝对值衡量本次影响大小。</a:t>
            </a:r>
          </a:p>
        </p:txBody>
      </p:sp>
      <p:sp>
        <p:nvSpPr>
          <p:cNvPr id="12" name="展示与校核">
            <a:extLst>
              <a:ext uri="{FF2B5EF4-FFF2-40B4-BE49-F238E27FC236}">
                <a16:creationId xmlns:a16="http://schemas.microsoft.com/office/drawing/2014/main" id="{3A151A82-52E0-400B-B491-B232D500ADF0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展示与校核</a:t>
            </a:r>
          </a:p>
        </p:txBody>
      </p:sp>
      <p:sp>
        <p:nvSpPr>
          <p:cNvPr id="13" name="先按五组汇总正负贡献，再列出关键特征、当前值、证据来">
            <a:extLst>
              <a:ext uri="{FF2B5EF4-FFF2-40B4-BE49-F238E27FC236}">
                <a16:creationId xmlns:a16="http://schemas.microsoft.com/office/drawing/2014/main" id="{AA7819DC-B656-4D8A-98A9-4742D3670A4D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10972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先按五组汇总正负贡献，再列出关键特征、当前值、证据来源与解释版本。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所有贡献加上参考输出，应能还原原始模型分数。</a:t>
            </a:r>
          </a:p>
        </p:txBody>
      </p:sp>
      <p:sp>
        <p:nvSpPr>
          <p:cNvPr id="14" name="校准概率与SHAP贡献分别展示。贡献值不代表概率百分">
            <a:extLst>
              <a:ext uri="{FF2B5EF4-FFF2-40B4-BE49-F238E27FC236}">
                <a16:creationId xmlns:a16="http://schemas.microsoft.com/office/drawing/2014/main" id="{E8307E43-7A86-4E90-B05D-1BAFB4752DB3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校准概率与SHAP贡献分别展示。贡献值不代表概率百分点，也不能证明因素与上涨存在因果关系。</a:t>
            </a:r>
          </a:p>
        </p:txBody>
      </p:sp>
    </p:spTree>
    <p:extLst>
      <p:ext uri="{BB962C8B-B14F-4D97-AF65-F5344CB8AC3E}">
        <p14:creationId xmlns:p14="http://schemas.microsoft.com/office/powerpoint/2010/main" val="2343871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公司深度研究的内容与证据">
            <a:extLst>
              <a:ext uri="{FF2B5EF4-FFF2-40B4-BE49-F238E27FC236}">
                <a16:creationId xmlns:a16="http://schemas.microsoft.com/office/drawing/2014/main" id="{11039772-AD61-4B4A-AEBA-2F3F8854B63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rPr>
              <a:t>公司深度研究的内容与证据</a:t>
            </a:r>
          </a:p>
        </p:txBody>
      </p:sp>
      <p:sp>
        <p:nvSpPr>
          <p:cNvPr id="2" name="24">
            <a:extLst>
              <a:ext uri="{FF2B5EF4-FFF2-40B4-BE49-F238E27FC236}">
                <a16:creationId xmlns:a16="http://schemas.microsoft.com/office/drawing/2014/main" id="{ABF10C3A-F8C3-43A0-9D09-BE2DAF00C3DA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graphicFrame>
        <p:nvGraphicFramePr>
          <p:cNvPr id="3" name="内容比较表">
            <a:extLst>
              <a:ext uri="{FF2B5EF4-FFF2-40B4-BE49-F238E27FC236}">
                <a16:creationId xmlns:a16="http://schemas.microsoft.com/office/drawing/2014/main" id="{7327FFC3-1F3E-4048-A4E0-D3AC264FB4D1}"/>
              </a:ext>
            </a:extLst>
          </p:cNvPr>
          <p:cNvGraphicFramePr/>
          <p:nvPr/>
        </p:nvGraphicFramePr>
        <p:xfrm>
          <a:off x="609600" y="1485900"/>
          <a:ext cx="10972800" cy="430530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核验重点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形成的研究结果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公司定位与业务拆分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产业环节、分业务收入和毛利、产品与资产关系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事件承接范围与实际业务份量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收入利润与ROE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销量、价格、结构、客户，毛利、费用、周转与杠杆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收入到利润的传导及财务质量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预期差与竞争风险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旧预期、新证据、机构担忧、竞争壁垒与反向材料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成立条件、未知项和失效信号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同业比较与跟踪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至少三家同业比较，后续财报和经营重点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可比较的研究结论与持续跟踪项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直接连接符 3">
            <a:extLst>
              <a:ext uri="{FF2B5EF4-FFF2-40B4-BE49-F238E27FC236}">
                <a16:creationId xmlns:a16="http://schemas.microsoft.com/office/drawing/2014/main" id="{B74CCFF4-6494-43E4-B295-45C8E42D0EEE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10972800" cy="0"/>
          </a:xfrm>
          <a:prstGeom prst="line">
            <a:avLst/>
          </a:prstGeom>
          <a:noFill/>
          <a:ln w="13335">
            <a:solidFill>
              <a:srgbClr val="203C59"/>
            </a:solidFill>
          </a:ln>
        </p:spPr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B4FFF1D3-949E-429B-91A0-17D551846D1D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0"/>
          </a:xfrm>
          <a:prstGeom prst="line">
            <a:avLst/>
          </a:prstGeom>
          <a:noFill/>
          <a:ln w="9525">
            <a:solidFill>
              <a:srgbClr val="203C59"/>
            </a:solidFill>
          </a:ln>
        </p:spPr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9D3F2DFE-851A-4600-89FF-809B098D9402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0"/>
          </a:xfrm>
          <a:prstGeom prst="line">
            <a:avLst/>
          </a:prstGeom>
          <a:noFill/>
          <a:ln w="13335">
            <a:solidFill>
              <a:srgbClr val="203C59"/>
            </a:solidFill>
          </a:ln>
        </p:spPr>
      </p:sp>
      <p:sp>
        <p:nvSpPr>
          <p:cNvPr id="7" name="财务数字由程序计算并对账。大模型围绕问题树整理证据，">
            <a:extLst>
              <a:ext uri="{FF2B5EF4-FFF2-40B4-BE49-F238E27FC236}">
                <a16:creationId xmlns:a16="http://schemas.microsoft.com/office/drawing/2014/main" id="{C33C2C9B-C334-46A5-B7C1-4DC00B9ACD23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财务数字由程序计算并对账。大模型围绕问题树整理证据，核验结果回流结构化字段。</a:t>
            </a:r>
          </a:p>
        </p:txBody>
      </p:sp>
    </p:spTree>
    <p:extLst>
      <p:ext uri="{BB962C8B-B14F-4D97-AF65-F5344CB8AC3E}">
        <p14:creationId xmlns:p14="http://schemas.microsoft.com/office/powerpoint/2010/main" val="880711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舆情分析与重大负面核验">
            <a:extLst>
              <a:ext uri="{FF2B5EF4-FFF2-40B4-BE49-F238E27FC236}">
                <a16:creationId xmlns:a16="http://schemas.microsoft.com/office/drawing/2014/main" id="{3218B720-BCC2-4275-83F7-D4810AC959F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rPr>
              <a:t>舆情分析与重大负面核验</a:t>
            </a:r>
          </a:p>
        </p:txBody>
      </p:sp>
      <p:sp>
        <p:nvSpPr>
          <p:cNvPr id="2" name="25">
            <a:extLst>
              <a:ext uri="{FF2B5EF4-FFF2-40B4-BE49-F238E27FC236}">
                <a16:creationId xmlns:a16="http://schemas.microsoft.com/office/drawing/2014/main" id="{B672820F-F6E0-42FE-B3B8-9E586CBB4802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3" name="舆情先区分独立来源、转载、公司澄清与传闻，再形成事实">
            <a:extLst>
              <a:ext uri="{FF2B5EF4-FFF2-40B4-BE49-F238E27FC236}">
                <a16:creationId xmlns:a16="http://schemas.microsoft.com/office/drawing/2014/main" id="{31E13942-CB08-4DAA-9CB6-B52CBB29A31D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100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舆情先区分独立来源、转载、公司澄清与传闻，再形成事实确认、拥挤程度和风险线索。</a:t>
            </a:r>
          </a:p>
        </p:txBody>
      </p:sp>
      <p:graphicFrame>
        <p:nvGraphicFramePr>
          <p:cNvPr id="4" name="内容比较表">
            <a:extLst>
              <a:ext uri="{FF2B5EF4-FFF2-40B4-BE49-F238E27FC236}">
                <a16:creationId xmlns:a16="http://schemas.microsoft.com/office/drawing/2014/main" id="{96616290-EE3C-41E5-8F1C-6EC4E0E1B549}"/>
              </a:ext>
            </a:extLst>
          </p:cNvPr>
          <p:cNvGraphicFramePr/>
          <p:nvPr/>
        </p:nvGraphicFramePr>
        <p:xfrm>
          <a:off x="609600" y="2638425"/>
          <a:ext cx="10972800" cy="3076575"/>
        </p:xfrm>
        <a:graphic>
          <a:graphicData uri="http://schemas.openxmlformats.org/drawingml/2006/table">
            <a:tbl>
              <a:tblPr/>
              <a:tblGrid>
                <a:gridCol w="2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核验状态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典型情形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处理动作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重大阻断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重大违法、财务造假、退市风险、重大诉讼或长期停牌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直接退出观察名单，保留否决依据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待核验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媒体质疑、一般诉讼、质押高企或主体证据冲突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补官方证据或人工复核，未解决不晋级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允许继续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在约定数据范围和截止时间内未发现重大阻断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继续研究，记录已检查范围与时间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直接连接符 4">
            <a:extLst>
              <a:ext uri="{FF2B5EF4-FFF2-40B4-BE49-F238E27FC236}">
                <a16:creationId xmlns:a16="http://schemas.microsoft.com/office/drawing/2014/main" id="{027893BB-F440-46AA-8161-FBAD5A627602}"/>
              </a:ext>
            </a:extLst>
          </p:cNvPr>
          <p:cNvSpPr>
            <a:spLocks noGrp="1"/>
          </p:cNvSpPr>
          <p:nvPr/>
        </p:nvSpPr>
        <p:spPr>
          <a:xfrm>
            <a:off x="609600" y="2638425"/>
            <a:ext cx="10972800" cy="0"/>
          </a:xfrm>
          <a:prstGeom prst="line">
            <a:avLst/>
          </a:prstGeom>
          <a:noFill/>
          <a:ln w="13335">
            <a:solidFill>
              <a:srgbClr val="203C59"/>
            </a:solidFill>
          </a:ln>
        </p:spPr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95D36728-5448-4EB4-8817-4A3934E9FDDC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10972800" cy="0"/>
          </a:xfrm>
          <a:prstGeom prst="line">
            <a:avLst/>
          </a:prstGeom>
          <a:noFill/>
          <a:ln w="9525">
            <a:solidFill>
              <a:srgbClr val="203C59"/>
            </a:solidFill>
          </a:ln>
        </p:spPr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20A4D328-701A-4273-A5D5-874A2C868B4A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972800" cy="0"/>
          </a:xfrm>
          <a:prstGeom prst="line">
            <a:avLst/>
          </a:prstGeom>
          <a:noFill/>
          <a:ln w="13335">
            <a:solidFill>
              <a:srgbClr val="203C59"/>
            </a:solidFill>
          </a:ln>
        </p:spPr>
      </p:sp>
      <p:sp>
        <p:nvSpPr>
          <p:cNvPr id="8" name="重大负面执行硬门，不能用高分抵消。舆情不单独创造候选">
            <a:extLst>
              <a:ext uri="{FF2B5EF4-FFF2-40B4-BE49-F238E27FC236}">
                <a16:creationId xmlns:a16="http://schemas.microsoft.com/office/drawing/2014/main" id="{E12E0EE7-92F6-4936-B121-3D69AFA3191E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重大负面执行硬门，不能用高分抵消。舆情不单独创造候选，允许继续也不等于绝对无风险。</a:t>
            </a:r>
          </a:p>
        </p:txBody>
      </p:sp>
    </p:spTree>
    <p:extLst>
      <p:ext uri="{BB962C8B-B14F-4D97-AF65-F5344CB8AC3E}">
        <p14:creationId xmlns:p14="http://schemas.microsoft.com/office/powerpoint/2010/main" val="9653469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DB73D0AF-7E72-467A-B12C-C55297F9DE70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6096000" y="3714750"/>
            <a:ext cx="2971800" cy="552450"/>
          </a:xfrm>
          <a:prstGeom prst="bentConnector4">
            <a:avLst>
              <a:gd name="adj1" fmla="val 0"/>
              <a:gd name="adj2" fmla="val 50000"/>
            </a:avLst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57A98933-2987-41EC-A2FA-5C520BE52F5C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3124200" y="3714750"/>
            <a:ext cx="2971800" cy="552450"/>
          </a:xfrm>
          <a:prstGeom prst="bentConnector4">
            <a:avLst>
              <a:gd name="adj1" fmla="val 0"/>
              <a:gd name="adj2" fmla="val 50000"/>
            </a:avLst>
          </a:prstGeom>
          <a:ln w="14288">
            <a:solidFill>
              <a:srgbClr val="65717D"/>
            </a:solidFill>
            <a:tailEnd type="triangle" w="sm" len="sm"/>
          </a:ln>
        </p:spPr>
      </p:cxnSp>
      <p:sp>
        <p:nvSpPr>
          <p:cNvPr id="10" name="前瞻大事件的发现流程">
            <a:extLst>
              <a:ext uri="{FF2B5EF4-FFF2-40B4-BE49-F238E27FC236}">
                <a16:creationId xmlns:a16="http://schemas.microsoft.com/office/drawing/2014/main" id="{221FC34D-1CCE-4EF7-A047-47C6BAB4D97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rPr>
              <a:t>前瞻大事件的发现流程</a:t>
            </a:r>
          </a:p>
        </p:txBody>
      </p:sp>
      <p:sp>
        <p:nvSpPr>
          <p:cNvPr id="2" name="26">
            <a:extLst>
              <a:ext uri="{FF2B5EF4-FFF2-40B4-BE49-F238E27FC236}">
                <a16:creationId xmlns:a16="http://schemas.microsoft.com/office/drawing/2014/main" id="{D2793EA6-4045-4814-AE4B-800917A5BDCB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3" name="从首席、调研、电话会、专家纪要、日程和问答中，寻找尚">
            <a:extLst>
              <a:ext uri="{FF2B5EF4-FFF2-40B4-BE49-F238E27FC236}">
                <a16:creationId xmlns:a16="http://schemas.microsoft.com/office/drawing/2014/main" id="{0160546C-B3A8-48C7-82D9-9F3CF8F1567E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100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从首席、调研、电话会、专家纪要、日程和问答中，寻找尚未正式兑现但可能影响宏观或行业预期的重要事项。</a:t>
            </a:r>
          </a:p>
        </p:txBody>
      </p:sp>
      <p:sp>
        <p:nvSpPr>
          <p:cNvPr id="4" name="规则与结构化线索">
            <a:extLst>
              <a:ext uri="{FF2B5EF4-FFF2-40B4-BE49-F238E27FC236}">
                <a16:creationId xmlns:a16="http://schemas.microsoft.com/office/drawing/2014/main" id="{0A959C33-0855-4CCC-804F-EE08B04A6B75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5029200" cy="104775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规则与结构化线索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识别明确时间、政策阶段、发布主体和日程</a:t>
            </a:r>
          </a:p>
        </p:txBody>
      </p:sp>
      <p:sp>
        <p:nvSpPr>
          <p:cNvPr id="5" name="语义模型与本地大模型">
            <a:extLst>
              <a:ext uri="{FF2B5EF4-FFF2-40B4-BE49-F238E27FC236}">
                <a16:creationId xmlns:a16="http://schemas.microsoft.com/office/drawing/2014/main" id="{089B2560-7F9C-4F0C-A0C8-9877A0350EEC}"/>
              </a:ext>
            </a:extLst>
          </p:cNvPr>
          <p:cNvSpPr>
            <a:spLocks noGrp="1"/>
          </p:cNvSpPr>
          <p:nvPr/>
        </p:nvSpPr>
        <p:spPr>
          <a:xfrm>
            <a:off x="6553200" y="2667000"/>
            <a:ext cx="5029200" cy="104775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语义模型与本地大模型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识别没有固定关键词的未来含义</a:t>
            </a:r>
          </a:p>
        </p:txBody>
      </p:sp>
      <p:sp>
        <p:nvSpPr>
          <p:cNvPr id="6" name="并集合并与上下文核验">
            <a:extLst>
              <a:ext uri="{FF2B5EF4-FFF2-40B4-BE49-F238E27FC236}">
                <a16:creationId xmlns:a16="http://schemas.microsoft.com/office/drawing/2014/main" id="{26EF3A31-1416-4BDF-B113-44AFA801F9FF}"/>
              </a:ext>
            </a:extLst>
          </p:cNvPr>
          <p:cNvSpPr>
            <a:spLocks noGrp="1"/>
          </p:cNvSpPr>
          <p:nvPr/>
        </p:nvSpPr>
        <p:spPr>
          <a:xfrm>
            <a:off x="2619375" y="4267200"/>
            <a:ext cx="6953250" cy="104775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并集合并与上下文核验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判断事项、推进阶段、预计时间、来源性质和未知项</a:t>
            </a:r>
          </a:p>
        </p:txBody>
      </p:sp>
      <p:sp>
        <p:nvSpPr>
          <p:cNvPr id="9" name="规则并非唯一入口。原文未给出具体月份时，不把模糊时间">
            <a:extLst>
              <a:ext uri="{FF2B5EF4-FFF2-40B4-BE49-F238E27FC236}">
                <a16:creationId xmlns:a16="http://schemas.microsoft.com/office/drawing/2014/main" id="{E3003A8E-F9CA-4F59-ADA4-44E19F774F30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规则并非唯一入口。原文未给出具体月份时，不把模糊时间推断成确定日期。</a:t>
            </a:r>
          </a:p>
        </p:txBody>
      </p:sp>
    </p:spTree>
    <p:extLst>
      <p:ext uri="{BB962C8B-B14F-4D97-AF65-F5344CB8AC3E}">
        <p14:creationId xmlns:p14="http://schemas.microsoft.com/office/powerpoint/2010/main" val="10915025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F30E394E-2979-4E4D-844C-CAC779E83313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8767763" y="1905000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2DC02DF-5D1D-4CA5-8812-A5961D1AE85B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5953126" y="1905000"/>
            <a:ext cx="285749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CF89E4AF-3FF3-42BF-8131-B69FB9DE0AFC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3138488" y="1905000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sp>
        <p:nvSpPr>
          <p:cNvPr id="15" name="预期事件卡与四维排序">
            <a:extLst>
              <a:ext uri="{FF2B5EF4-FFF2-40B4-BE49-F238E27FC236}">
                <a16:creationId xmlns:a16="http://schemas.microsoft.com/office/drawing/2014/main" id="{9514810F-086D-4B98-B08B-1A5E9F8E87A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rPr>
              <a:t>预期事件卡与四维排序</a:t>
            </a:r>
          </a:p>
        </p:txBody>
      </p:sp>
      <p:sp>
        <p:nvSpPr>
          <p:cNvPr id="2" name="27">
            <a:extLst>
              <a:ext uri="{FF2B5EF4-FFF2-40B4-BE49-F238E27FC236}">
                <a16:creationId xmlns:a16="http://schemas.microsoft.com/office/drawing/2014/main" id="{B22AAE83-3310-4CB2-9155-4D660B4BBC9E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3" name="事件簇合并">
            <a:extLst>
              <a:ext uri="{FF2B5EF4-FFF2-40B4-BE49-F238E27FC236}">
                <a16:creationId xmlns:a16="http://schemas.microsoft.com/office/drawing/2014/main" id="{C8B2933E-B2E7-47AD-9209-AD9FD77F5A2D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2528888" cy="102870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事件簇合并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同一事项聚为一簇</a:t>
            </a:r>
          </a:p>
        </p:txBody>
      </p:sp>
      <p:sp>
        <p:nvSpPr>
          <p:cNvPr id="4" name="四维分级">
            <a:extLst>
              <a:ext uri="{FF2B5EF4-FFF2-40B4-BE49-F238E27FC236}">
                <a16:creationId xmlns:a16="http://schemas.microsoft.com/office/drawing/2014/main" id="{B61CA97C-1937-4A61-9D8F-0ABB6CBFF689}"/>
              </a:ext>
            </a:extLst>
          </p:cNvPr>
          <p:cNvSpPr>
            <a:spLocks noGrp="1"/>
          </p:cNvSpPr>
          <p:nvPr/>
        </p:nvSpPr>
        <p:spPr>
          <a:xfrm>
            <a:off x="3424238" y="1390650"/>
            <a:ext cx="2528888" cy="102870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四维分级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保留各维度依据</a:t>
            </a:r>
          </a:p>
        </p:txBody>
      </p:sp>
      <p:sp>
        <p:nvSpPr>
          <p:cNvPr id="5" name="分级排序">
            <a:extLst>
              <a:ext uri="{FF2B5EF4-FFF2-40B4-BE49-F238E27FC236}">
                <a16:creationId xmlns:a16="http://schemas.microsoft.com/office/drawing/2014/main" id="{C4E7A6C1-3A1B-4841-9DC8-D7C7153E1D16}"/>
              </a:ext>
            </a:extLst>
          </p:cNvPr>
          <p:cNvSpPr>
            <a:spLocks noGrp="1"/>
          </p:cNvSpPr>
          <p:nvPr/>
        </p:nvSpPr>
        <p:spPr>
          <a:xfrm>
            <a:off x="6238875" y="1390650"/>
            <a:ext cx="2528888" cy="102870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分级排序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按冻结规则比较</a:t>
            </a:r>
          </a:p>
        </p:txBody>
      </p:sp>
      <p:sp>
        <p:nvSpPr>
          <p:cNvPr id="6" name="独立榜单">
            <a:extLst>
              <a:ext uri="{FF2B5EF4-FFF2-40B4-BE49-F238E27FC236}">
                <a16:creationId xmlns:a16="http://schemas.microsoft.com/office/drawing/2014/main" id="{D0E9194A-5EAD-4D58-A616-D64EA15B4A10}"/>
              </a:ext>
            </a:extLst>
          </p:cNvPr>
          <p:cNvSpPr>
            <a:spLocks noGrp="1"/>
          </p:cNvSpPr>
          <p:nvPr/>
        </p:nvSpPr>
        <p:spPr>
          <a:xfrm>
            <a:off x="9053513" y="1390650"/>
            <a:ext cx="2528888" cy="102870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独立榜单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输出0至10项</a:t>
            </a:r>
          </a:p>
        </p:txBody>
      </p:sp>
      <p:graphicFrame>
        <p:nvGraphicFramePr>
          <p:cNvPr id="10" name="内容比较表">
            <a:extLst>
              <a:ext uri="{FF2B5EF4-FFF2-40B4-BE49-F238E27FC236}">
                <a16:creationId xmlns:a16="http://schemas.microsoft.com/office/drawing/2014/main" id="{20F13475-1580-4696-830E-1CADDD7175A1}"/>
              </a:ext>
            </a:extLst>
          </p:cNvPr>
          <p:cNvGraphicFramePr/>
          <p:nvPr/>
        </p:nvGraphicFramePr>
        <p:xfrm>
          <a:off x="609600" y="2876550"/>
          <a:ext cx="10972800" cy="310515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排序维度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主要判断依据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展示方式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重要性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发布层级、影响范围、约束强度、资金或价格机制、持续时间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S、A、B等级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发生可能性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独立来源一致性、官方预告、历史兑现和反向证据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高、中、低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新颖度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首次出现，或新增时间、主体、数字目标和推进阶段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高、中、低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紧迫度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原文支持的预计发生时间与窗口明确程度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明确时间窗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B7BA1DAD-98DF-40F6-9AC7-DFD03B5B4876}"/>
              </a:ext>
            </a:extLst>
          </p:cNvPr>
          <p:cNvSpPr>
            <a:spLocks noGrp="1"/>
          </p:cNvSpPr>
          <p:nvPr/>
        </p:nvSpPr>
        <p:spPr>
          <a:xfrm>
            <a:off x="609600" y="2876550"/>
            <a:ext cx="10972800" cy="0"/>
          </a:xfrm>
          <a:prstGeom prst="line">
            <a:avLst/>
          </a:prstGeom>
          <a:noFill/>
          <a:ln w="13335">
            <a:solidFill>
              <a:srgbClr val="203C59"/>
            </a:solidFill>
          </a:ln>
        </p:spPr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EFC5BA5A-C728-4BB4-AA13-81B79D760E56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10972800" cy="0"/>
          </a:xfrm>
          <a:prstGeom prst="line">
            <a:avLst/>
          </a:prstGeom>
          <a:noFill/>
          <a:ln w="9525">
            <a:solidFill>
              <a:srgbClr val="203C59"/>
            </a:solidFill>
          </a:ln>
        </p:spPr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45A32D3A-6EBE-4392-938C-12A74C39939C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972800" cy="0"/>
          </a:xfrm>
          <a:prstGeom prst="line">
            <a:avLst/>
          </a:prstGeom>
          <a:noFill/>
          <a:ln w="13335">
            <a:solidFill>
              <a:srgbClr val="203C59"/>
            </a:solidFill>
          </a:ln>
        </p:spPr>
      </p:sp>
      <p:sp>
        <p:nvSpPr>
          <p:cNvPr id="14" name="按上表顺序分级排序，保留来源、时间窗和失效条件。发生">
            <a:extLst>
              <a:ext uri="{FF2B5EF4-FFF2-40B4-BE49-F238E27FC236}">
                <a16:creationId xmlns:a16="http://schemas.microsoft.com/office/drawing/2014/main" id="{18619982-BC1A-4B71-8791-B6F25062D69E}"/>
              </a:ext>
            </a:extLst>
          </p:cNvPr>
          <p:cNvSpPr>
            <a:spLocks noGrp="1"/>
          </p:cNvSpPr>
          <p:nvPr/>
        </p:nvSpPr>
        <p:spPr>
          <a:xfrm>
            <a:off x="609600" y="615315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按上表顺序分级排序，保留来源、时间窗和失效条件。发生可能性用等级展示，不包装成精确概率。</a:t>
            </a:r>
          </a:p>
        </p:txBody>
      </p:sp>
    </p:spTree>
    <p:extLst>
      <p:ext uri="{BB962C8B-B14F-4D97-AF65-F5344CB8AC3E}">
        <p14:creationId xmlns:p14="http://schemas.microsoft.com/office/powerpoint/2010/main" val="21049927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81F76580-E363-48C2-9E5B-A2915C2FB757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8767763" y="2047875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62C8D43-4308-4B8C-8384-59980C885AB2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5953126" y="2047875"/>
            <a:ext cx="285749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89AD94D9-8D6A-411A-9E9D-CBE3758E2864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3138488" y="2047875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sp>
        <p:nvSpPr>
          <p:cNvPr id="15" name="前瞻事项的状态跟踪与兑现检验">
            <a:extLst>
              <a:ext uri="{FF2B5EF4-FFF2-40B4-BE49-F238E27FC236}">
                <a16:creationId xmlns:a16="http://schemas.microsoft.com/office/drawing/2014/main" id="{FDF0DF55-3777-4399-8775-86580E25E09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rPr>
              <a:t>前瞻事项的状态跟踪与兑现检验</a:t>
            </a:r>
          </a:p>
        </p:txBody>
      </p:sp>
      <p:sp>
        <p:nvSpPr>
          <p:cNvPr id="2" name="28">
            <a:extLst>
              <a:ext uri="{FF2B5EF4-FFF2-40B4-BE49-F238E27FC236}">
                <a16:creationId xmlns:a16="http://schemas.microsoft.com/office/drawing/2014/main" id="{08C4BE43-1559-4E3C-9076-A9B090BE69A8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3" name="发现线索">
            <a:extLst>
              <a:ext uri="{FF2B5EF4-FFF2-40B4-BE49-F238E27FC236}">
                <a16:creationId xmlns:a16="http://schemas.microsoft.com/office/drawing/2014/main" id="{3F0D37CA-42B9-4560-8393-B198D0B889FE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2528888" cy="112395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发现线索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预期中</a:t>
            </a:r>
          </a:p>
        </p:txBody>
      </p:sp>
      <p:sp>
        <p:nvSpPr>
          <p:cNvPr id="4" name="证据更新">
            <a:extLst>
              <a:ext uri="{FF2B5EF4-FFF2-40B4-BE49-F238E27FC236}">
                <a16:creationId xmlns:a16="http://schemas.microsoft.com/office/drawing/2014/main" id="{6597BE80-2349-493B-BE0B-C594A607F911}"/>
              </a:ext>
            </a:extLst>
          </p:cNvPr>
          <p:cNvSpPr>
            <a:spLocks noGrp="1"/>
          </p:cNvSpPr>
          <p:nvPr/>
        </p:nvSpPr>
        <p:spPr>
          <a:xfrm>
            <a:off x="3424238" y="1485900"/>
            <a:ext cx="2528888" cy="112395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证据更新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时间收窄或日程确认</a:t>
            </a:r>
          </a:p>
        </p:txBody>
      </p:sp>
      <p:sp>
        <p:nvSpPr>
          <p:cNvPr id="5" name="持续跟踪">
            <a:extLst>
              <a:ext uri="{FF2B5EF4-FFF2-40B4-BE49-F238E27FC236}">
                <a16:creationId xmlns:a16="http://schemas.microsoft.com/office/drawing/2014/main" id="{0DC12662-5EF3-444F-813A-B76303C8472A}"/>
              </a:ext>
            </a:extLst>
          </p:cNvPr>
          <p:cNvSpPr>
            <a:spLocks noGrp="1"/>
          </p:cNvSpPr>
          <p:nvPr/>
        </p:nvSpPr>
        <p:spPr>
          <a:xfrm>
            <a:off x="6238875" y="1485900"/>
            <a:ext cx="2528888" cy="112395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持续跟踪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延期、否认或部分兑现</a:t>
            </a:r>
          </a:p>
        </p:txBody>
      </p:sp>
      <p:sp>
        <p:nvSpPr>
          <p:cNvPr id="6" name="验证结果">
            <a:extLst>
              <a:ext uri="{FF2B5EF4-FFF2-40B4-BE49-F238E27FC236}">
                <a16:creationId xmlns:a16="http://schemas.microsoft.com/office/drawing/2014/main" id="{4A0184F9-9EAA-4E85-810D-08300588B61D}"/>
              </a:ext>
            </a:extLst>
          </p:cNvPr>
          <p:cNvSpPr>
            <a:spLocks noGrp="1"/>
          </p:cNvSpPr>
          <p:nvPr/>
        </p:nvSpPr>
        <p:spPr>
          <a:xfrm>
            <a:off x="9053513" y="1485900"/>
            <a:ext cx="2528888" cy="112395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验证结果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正式兑现或失效</a:t>
            </a:r>
          </a:p>
        </p:txBody>
      </p:sp>
      <p:sp>
        <p:nvSpPr>
          <p:cNvPr id="10" name="状态更新依据">
            <a:extLst>
              <a:ext uri="{FF2B5EF4-FFF2-40B4-BE49-F238E27FC236}">
                <a16:creationId xmlns:a16="http://schemas.microsoft.com/office/drawing/2014/main" id="{C930B701-544B-4B90-B9B0-7D06513BAD45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状态更新依据</a:t>
            </a:r>
          </a:p>
        </p:txBody>
      </p:sp>
      <p:sp>
        <p:nvSpPr>
          <p:cNvPr id="11" name="新证据与前一版本对照，标记新发现、证据增强、时间收窄">
            <a:extLst>
              <a:ext uri="{FF2B5EF4-FFF2-40B4-BE49-F238E27FC236}">
                <a16:creationId xmlns:a16="http://schemas.microsoft.com/office/drawing/2014/main" id="{336F16E4-8960-4984-9FCF-CF1382F97751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10972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新证据与前一版本对照，标记新发现、证据增强、时间收窄、延期和兑现变化。独立来源与转载分开统计，反向信息同步保存。</a:t>
            </a:r>
          </a:p>
        </p:txBody>
      </p:sp>
      <p:sp>
        <p:nvSpPr>
          <p:cNvPr id="12" name="正式兑现后的处理">
            <a:extLst>
              <a:ext uri="{FF2B5EF4-FFF2-40B4-BE49-F238E27FC236}">
                <a16:creationId xmlns:a16="http://schemas.microsoft.com/office/drawing/2014/main" id="{6D675DF2-BC0A-476E-B833-9E502D14A27D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正式兑现后的处理</a:t>
            </a:r>
          </a:p>
        </p:txBody>
      </p:sp>
      <p:sp>
        <p:nvSpPr>
          <p:cNvPr id="13" name="正式政策等公开信息用于检验线索的领先时间与内容一致性">
            <a:extLst>
              <a:ext uri="{FF2B5EF4-FFF2-40B4-BE49-F238E27FC236}">
                <a16:creationId xmlns:a16="http://schemas.microsoft.com/office/drawing/2014/main" id="{A37EA20A-AE8D-4EEF-B643-C2F04874D173}"/>
              </a:ext>
            </a:extLst>
          </p:cNvPr>
          <p:cNvSpPr>
            <a:spLocks noGrp="1"/>
          </p:cNvSpPr>
          <p:nvPr/>
        </p:nvSpPr>
        <p:spPr>
          <a:xfrm>
            <a:off x="609600" y="4991100"/>
            <a:ext cx="10972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正式政策等公开信息用于检验线索的领先时间与内容一致性。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确认后的新事实重新生成事件卡，再按既定规则检查候选资格。</a:t>
            </a:r>
          </a:p>
        </p:txBody>
      </p:sp>
      <p:sp>
        <p:nvSpPr>
          <p:cNvPr id="14" name="前瞻榜独立发布0至10项，未兑现预期不进入个股P0，">
            <a:extLst>
              <a:ext uri="{FF2B5EF4-FFF2-40B4-BE49-F238E27FC236}">
                <a16:creationId xmlns:a16="http://schemas.microsoft.com/office/drawing/2014/main" id="{A66F0762-CBF5-4A7D-9883-B1D75937E943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前瞻榜独立发布0至10项，未兑现预期不进入个股P0，不改变个股量化概率或参考排序。</a:t>
            </a:r>
          </a:p>
        </p:txBody>
      </p:sp>
    </p:spTree>
    <p:extLst>
      <p:ext uri="{BB962C8B-B14F-4D97-AF65-F5344CB8AC3E}">
        <p14:creationId xmlns:p14="http://schemas.microsoft.com/office/powerpoint/2010/main" val="4287463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091B08C5-B800-4995-97EB-C99255C7E429}"/>
              </a:ext>
            </a:extLst>
          </p:cNvPr>
          <p:cNvCxnSpPr>
            <a:stCxn id="7" idx="2"/>
            <a:endCxn id="10" idx="0"/>
          </p:cNvCxnSpPr>
          <p:nvPr/>
        </p:nvCxnSpPr>
        <p:spPr>
          <a:xfrm flipH="1">
            <a:off x="6096000" y="4762500"/>
            <a:ext cx="2971800" cy="447675"/>
          </a:xfrm>
          <a:prstGeom prst="bentConnector4">
            <a:avLst>
              <a:gd name="adj1" fmla="val 0"/>
              <a:gd name="adj2" fmla="val 50000"/>
            </a:avLst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70099C3E-7638-4E52-A345-A1D2AA77A037}"/>
              </a:ext>
            </a:extLst>
          </p:cNvPr>
          <p:cNvCxnSpPr>
            <a:stCxn id="6" idx="2"/>
            <a:endCxn id="10" idx="0"/>
          </p:cNvCxnSpPr>
          <p:nvPr/>
        </p:nvCxnSpPr>
        <p:spPr>
          <a:xfrm>
            <a:off x="3124200" y="4762500"/>
            <a:ext cx="2971800" cy="447675"/>
          </a:xfrm>
          <a:prstGeom prst="bentConnector4">
            <a:avLst>
              <a:gd name="adj1" fmla="val 0"/>
              <a:gd name="adj2" fmla="val 50000"/>
            </a:avLst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0F2A07BB-AF44-42F8-946C-F30E163AF815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6096000" y="3286125"/>
            <a:ext cx="2971800" cy="504825"/>
          </a:xfrm>
          <a:prstGeom prst="bentConnector4">
            <a:avLst>
              <a:gd name="adj1" fmla="val 0"/>
              <a:gd name="adj2" fmla="val 50000"/>
            </a:avLst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F0F92CCB-E9D6-474A-9AB5-2C448FE7B106}"/>
              </a:ext>
            </a:extLst>
          </p:cNvPr>
          <p:cNvCxnSpPr>
            <a:stCxn id="4" idx="2"/>
            <a:endCxn id="6" idx="0"/>
          </p:cNvCxnSpPr>
          <p:nvPr/>
        </p:nvCxnSpPr>
        <p:spPr>
          <a:xfrm flipH="1">
            <a:off x="3124200" y="3286125"/>
            <a:ext cx="2971800" cy="504825"/>
          </a:xfrm>
          <a:prstGeom prst="bentConnector4">
            <a:avLst>
              <a:gd name="adj1" fmla="val 0"/>
              <a:gd name="adj2" fmla="val 50000"/>
            </a:avLst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7A69A024-8A01-4423-8C85-4A04CD90F894}"/>
              </a:ext>
            </a:extLst>
          </p:cNvPr>
          <p:cNvCxnSpPr>
            <a:stCxn id="3" idx="2"/>
            <a:endCxn id="4" idx="0"/>
          </p:cNvCxnSpPr>
          <p:nvPr/>
        </p:nvCxnSpPr>
        <p:spPr>
          <a:xfrm>
            <a:off x="6096000" y="2066925"/>
            <a:ext cx="0" cy="38100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sp>
        <p:nvSpPr>
          <p:cNvPr id="14" name="多智能体协同与审计流程">
            <a:extLst>
              <a:ext uri="{FF2B5EF4-FFF2-40B4-BE49-F238E27FC236}">
                <a16:creationId xmlns:a16="http://schemas.microsoft.com/office/drawing/2014/main" id="{E3A593E2-600B-4498-88EC-1D8B4F0B822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rPr>
              <a:t>多智能体协同与审计流程</a:t>
            </a:r>
          </a:p>
        </p:txBody>
      </p:sp>
      <p:sp>
        <p:nvSpPr>
          <p:cNvPr id="2" name="29">
            <a:extLst>
              <a:ext uri="{FF2B5EF4-FFF2-40B4-BE49-F238E27FC236}">
                <a16:creationId xmlns:a16="http://schemas.microsoft.com/office/drawing/2014/main" id="{FFFA097B-2ED5-4223-BD9C-5872C5E3EE88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3" name="流程编排">
            <a:extLst>
              <a:ext uri="{FF2B5EF4-FFF2-40B4-BE49-F238E27FC236}">
                <a16:creationId xmlns:a16="http://schemas.microsoft.com/office/drawing/2014/main" id="{706AC59C-A4B5-4C64-85BB-9DE350CF38C6}"/>
              </a:ext>
            </a:extLst>
          </p:cNvPr>
          <p:cNvSpPr>
            <a:spLocks noGrp="1"/>
          </p:cNvSpPr>
          <p:nvPr/>
        </p:nvSpPr>
        <p:spPr>
          <a:xfrm>
            <a:off x="3810000" y="1266825"/>
            <a:ext cx="4572000" cy="80010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流程编排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冻结快照，安排任务和处理异常</a:t>
            </a:r>
          </a:p>
        </p:txBody>
      </p:sp>
      <p:sp>
        <p:nvSpPr>
          <p:cNvPr id="4" name="事件理解与证据维护">
            <a:extLst>
              <a:ext uri="{FF2B5EF4-FFF2-40B4-BE49-F238E27FC236}">
                <a16:creationId xmlns:a16="http://schemas.microsoft.com/office/drawing/2014/main" id="{ED5C14BB-FB05-4B54-B8CA-41866CFAE257}"/>
              </a:ext>
            </a:extLst>
          </p:cNvPr>
          <p:cNvSpPr>
            <a:spLocks noGrp="1"/>
          </p:cNvSpPr>
          <p:nvPr/>
        </p:nvSpPr>
        <p:spPr>
          <a:xfrm>
            <a:off x="3810000" y="2447925"/>
            <a:ext cx="4572000" cy="83820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事件理解与证据维护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标准事件、实体校验和Wiki更新</a:t>
            </a:r>
          </a:p>
        </p:txBody>
      </p:sp>
      <p:sp>
        <p:nvSpPr>
          <p:cNvPr id="6" name="个股量化与公司研究">
            <a:extLst>
              <a:ext uri="{FF2B5EF4-FFF2-40B4-BE49-F238E27FC236}">
                <a16:creationId xmlns:a16="http://schemas.microsoft.com/office/drawing/2014/main" id="{08BD3E99-9293-4A20-85B9-65B85CBD1690}"/>
              </a:ext>
            </a:extLst>
          </p:cNvPr>
          <p:cNvSpPr>
            <a:spLocks noGrp="1"/>
          </p:cNvSpPr>
          <p:nvPr/>
        </p:nvSpPr>
        <p:spPr>
          <a:xfrm>
            <a:off x="609600" y="3790950"/>
            <a:ext cx="5029200" cy="97155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个股量化与公司研究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模型参考、P2核验与P3深度研究</a:t>
            </a:r>
          </a:p>
        </p:txBody>
      </p:sp>
      <p:sp>
        <p:nvSpPr>
          <p:cNvPr id="7" name="前瞻事件处理">
            <a:extLst>
              <a:ext uri="{FF2B5EF4-FFF2-40B4-BE49-F238E27FC236}">
                <a16:creationId xmlns:a16="http://schemas.microsoft.com/office/drawing/2014/main" id="{5A9C279D-D649-45DD-AC36-D682402A1DEA}"/>
              </a:ext>
            </a:extLst>
          </p:cNvPr>
          <p:cNvSpPr>
            <a:spLocks noGrp="1"/>
          </p:cNvSpPr>
          <p:nvPr/>
        </p:nvSpPr>
        <p:spPr>
          <a:xfrm>
            <a:off x="6553200" y="3790950"/>
            <a:ext cx="5029200" cy="97155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前瞻事件处理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独立聚类、排序与状态跟踪</a:t>
            </a:r>
          </a:p>
        </p:txBody>
      </p:sp>
      <p:sp>
        <p:nvSpPr>
          <p:cNvPr id="10" name="风险核验与审计">
            <a:extLst>
              <a:ext uri="{FF2B5EF4-FFF2-40B4-BE49-F238E27FC236}">
                <a16:creationId xmlns:a16="http://schemas.microsoft.com/office/drawing/2014/main" id="{B2C05EC1-F17C-4115-AEB8-8ADEF25C4995}"/>
              </a:ext>
            </a:extLst>
          </p:cNvPr>
          <p:cNvSpPr>
            <a:spLocks noGrp="1"/>
          </p:cNvSpPr>
          <p:nvPr/>
        </p:nvSpPr>
        <p:spPr>
          <a:xfrm>
            <a:off x="2857500" y="5210175"/>
            <a:ext cx="6477000" cy="72390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风险核验与审计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检查时间、证据、版本、权限和发布资格</a:t>
            </a:r>
          </a:p>
        </p:txBody>
      </p:sp>
      <p:sp>
        <p:nvSpPr>
          <p:cNvPr id="13" name="各任务传递快照标识、证据标识、输入版本、处理状态和错">
            <a:extLst>
              <a:ext uri="{FF2B5EF4-FFF2-40B4-BE49-F238E27FC236}">
                <a16:creationId xmlns:a16="http://schemas.microsoft.com/office/drawing/2014/main" id="{1C2AAECB-2CF9-477D-A213-75B9CF020026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各任务传递快照标识、证据标识、输入版本、处理状态和错误原因，分歧回到原文处理。</a:t>
            </a:r>
          </a:p>
        </p:txBody>
      </p:sp>
    </p:spTree>
    <p:extLst>
      <p:ext uri="{BB962C8B-B14F-4D97-AF65-F5344CB8AC3E}">
        <p14:creationId xmlns:p14="http://schemas.microsoft.com/office/powerpoint/2010/main" val="17317621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11DF356B-6B74-45A5-BD13-CB6FCD670F16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8767763" y="2062163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A88A8D2C-AE3D-4AAA-9036-3894A89FB61D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5953126" y="2062163"/>
            <a:ext cx="285749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390977CD-3B0B-4977-8004-98C18CAC23CA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3138488" y="2062163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sp>
        <p:nvSpPr>
          <p:cNvPr id="15" name="模型版本管理与异常处理">
            <a:extLst>
              <a:ext uri="{FF2B5EF4-FFF2-40B4-BE49-F238E27FC236}">
                <a16:creationId xmlns:a16="http://schemas.microsoft.com/office/drawing/2014/main" id="{5B9EE52D-5661-4F97-9E40-190A6EE91D0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rPr>
              <a:t>模型版本管理与异常处理</a:t>
            </a:r>
          </a:p>
        </p:txBody>
      </p:sp>
      <p:sp>
        <p:nvSpPr>
          <p:cNvPr id="2" name="30">
            <a:extLst>
              <a:ext uri="{FF2B5EF4-FFF2-40B4-BE49-F238E27FC236}">
                <a16:creationId xmlns:a16="http://schemas.microsoft.com/office/drawing/2014/main" id="{EAD61BBB-0428-4E5A-BDE9-60CA84B5C40B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3" name="抽取版本升级">
            <a:extLst>
              <a:ext uri="{FF2B5EF4-FFF2-40B4-BE49-F238E27FC236}">
                <a16:creationId xmlns:a16="http://schemas.microsoft.com/office/drawing/2014/main" id="{9E3CE038-EA68-423A-9DAF-CFDACED2C8DF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2528888" cy="1114425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抽取版本升级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记录处理规则变化</a:t>
            </a:r>
          </a:p>
        </p:txBody>
      </p:sp>
      <p:sp>
        <p:nvSpPr>
          <p:cNvPr id="4" name="历史事件重建">
            <a:extLst>
              <a:ext uri="{FF2B5EF4-FFF2-40B4-BE49-F238E27FC236}">
                <a16:creationId xmlns:a16="http://schemas.microsoft.com/office/drawing/2014/main" id="{5CEE4348-1FB3-4C8C-BEC7-482C748E8C02}"/>
              </a:ext>
            </a:extLst>
          </p:cNvPr>
          <p:cNvSpPr>
            <a:spLocks noGrp="1"/>
          </p:cNvSpPr>
          <p:nvPr/>
        </p:nvSpPr>
        <p:spPr>
          <a:xfrm>
            <a:off x="3424238" y="1504950"/>
            <a:ext cx="2528888" cy="1114425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历史事件重建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对齐训练与生产</a:t>
            </a:r>
          </a:p>
        </p:txBody>
      </p:sp>
      <p:sp>
        <p:nvSpPr>
          <p:cNvPr id="5" name="重叠双跑检验">
            <a:extLst>
              <a:ext uri="{FF2B5EF4-FFF2-40B4-BE49-F238E27FC236}">
                <a16:creationId xmlns:a16="http://schemas.microsoft.com/office/drawing/2014/main" id="{D2A19ADA-5498-4890-A1A4-CC45E71F634A}"/>
              </a:ext>
            </a:extLst>
          </p:cNvPr>
          <p:cNvSpPr>
            <a:spLocks noGrp="1"/>
          </p:cNvSpPr>
          <p:nvPr/>
        </p:nvSpPr>
        <p:spPr>
          <a:xfrm>
            <a:off x="6238875" y="1504950"/>
            <a:ext cx="2528888" cy="1114425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重叠双跑检验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检查结果变化</a:t>
            </a:r>
          </a:p>
        </p:txBody>
      </p:sp>
      <p:sp>
        <p:nvSpPr>
          <p:cNvPr id="6" name="冻结与回滚">
            <a:extLst>
              <a:ext uri="{FF2B5EF4-FFF2-40B4-BE49-F238E27FC236}">
                <a16:creationId xmlns:a16="http://schemas.microsoft.com/office/drawing/2014/main" id="{165739C1-8B0A-45BA-B1BE-A4E19212F665}"/>
              </a:ext>
            </a:extLst>
          </p:cNvPr>
          <p:cNvSpPr>
            <a:spLocks noGrp="1"/>
          </p:cNvSpPr>
          <p:nvPr/>
        </p:nvSpPr>
        <p:spPr>
          <a:xfrm>
            <a:off x="9053513" y="1504950"/>
            <a:ext cx="2528888" cy="1114425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冻结与回滚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保留已验收基线</a:t>
            </a:r>
          </a:p>
        </p:txBody>
      </p:sp>
      <p:sp>
        <p:nvSpPr>
          <p:cNvPr id="10" name="版本绑定">
            <a:extLst>
              <a:ext uri="{FF2B5EF4-FFF2-40B4-BE49-F238E27FC236}">
                <a16:creationId xmlns:a16="http://schemas.microsoft.com/office/drawing/2014/main" id="{319B2884-3942-4670-B86B-3238EF7FB6FB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版本绑定</a:t>
            </a:r>
          </a:p>
        </p:txBody>
      </p:sp>
      <p:sp>
        <p:nvSpPr>
          <p:cNvPr id="11" name="事件抽取、数据快照、特征、子模型、融合器、校准器与解">
            <a:extLst>
              <a:ext uri="{FF2B5EF4-FFF2-40B4-BE49-F238E27FC236}">
                <a16:creationId xmlns:a16="http://schemas.microsoft.com/office/drawing/2014/main" id="{7EBBC736-5319-42E3-8E2B-86583695D476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事件抽取、数据快照、特征、子模型、融合器、校准器与解释器共同记录版本。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任一结果都能还原当时输入和处理过程。</a:t>
            </a:r>
          </a:p>
        </p:txBody>
      </p:sp>
      <p:sp>
        <p:nvSpPr>
          <p:cNvPr id="12" name="异常处理">
            <a:extLst>
              <a:ext uri="{FF2B5EF4-FFF2-40B4-BE49-F238E27FC236}">
                <a16:creationId xmlns:a16="http://schemas.microsoft.com/office/drawing/2014/main" id="{E177D1D1-BAFD-4148-82C9-C2ECEEF6131C}"/>
              </a:ext>
            </a:extLst>
          </p:cNvPr>
          <p:cNvSpPr>
            <a:spLocks noGrp="1"/>
          </p:cNvSpPr>
          <p:nvPr/>
        </p:nvSpPr>
        <p:spPr>
          <a:xfrm>
            <a:off x="609600" y="458152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异常处理</a:t>
            </a:r>
          </a:p>
        </p:txBody>
      </p:sp>
      <p:sp>
        <p:nvSpPr>
          <p:cNvPr id="13" name="新版本通过相应验证后再切换。数据延迟或服务异常时回退">
            <a:extLst>
              <a:ext uri="{FF2B5EF4-FFF2-40B4-BE49-F238E27FC236}">
                <a16:creationId xmlns:a16="http://schemas.microsoft.com/office/drawing/2014/main" id="{93959CB7-1782-409D-9A8B-C9193FD452C2}"/>
              </a:ext>
            </a:extLst>
          </p:cNvPr>
          <p:cNvSpPr>
            <a:spLocks noGrp="1"/>
          </p:cNvSpPr>
          <p:nvPr/>
        </p:nvSpPr>
        <p:spPr>
          <a:xfrm>
            <a:off x="609600" y="5000625"/>
            <a:ext cx="109728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新版本通过相应验证后再切换。数据延迟或服务异常时回退已验收基线，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记录失败原因与受影响范围；迟到信息进入下一快照。</a:t>
            </a:r>
          </a:p>
        </p:txBody>
      </p:sp>
      <p:sp>
        <p:nvSpPr>
          <p:cNvPr id="14" name="两条主线分别保存结果与评价记录，前瞻榜兑现情况不混入">
            <a:extLst>
              <a:ext uri="{FF2B5EF4-FFF2-40B4-BE49-F238E27FC236}">
                <a16:creationId xmlns:a16="http://schemas.microsoft.com/office/drawing/2014/main" id="{79B8B1F0-047A-46D5-8B38-334FE069F686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两条主线分别保存结果与评价记录，前瞻榜兑现情况不混入个股模型的评价指标。</a:t>
            </a:r>
          </a:p>
        </p:txBody>
      </p:sp>
    </p:spTree>
    <p:extLst>
      <p:ext uri="{BB962C8B-B14F-4D97-AF65-F5344CB8AC3E}">
        <p14:creationId xmlns:p14="http://schemas.microsoft.com/office/powerpoint/2010/main" val="19986606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AC75F6C7-4899-4C73-8ABF-787460CC8A2E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>
            <a:off x="8767763" y="5462588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54F274C4-7C55-496D-AC67-FD802BEAB7EC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5953126" y="5462588"/>
            <a:ext cx="285749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134F7F5-CE2C-4973-BB64-E7555D049DA7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>
            <a:off x="3138488" y="5462588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5646D2ED-4ED7-4C0D-B02B-F7B6CF8EFC53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8767763" y="3719513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570B4886-E44F-40CD-AB78-0A595B509335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5953126" y="3719513"/>
            <a:ext cx="285749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789C570-933A-4B4C-B7D8-085F12724D5A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3138488" y="3719513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9FFAFB1-9601-4311-B5DC-B6B99E2E7C81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7829550" y="1838325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AB1373A-2B5D-4265-AE0B-BFE101D3DF75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076700" y="1838325"/>
            <a:ext cx="285750" cy="0"/>
          </a:xfrm>
          <a:prstGeom prst="straightConnector1">
            <a:avLst/>
          </a:prstGeom>
          <a:ln w="14288">
            <a:solidFill>
              <a:srgbClr val="65717D"/>
            </a:solidFill>
            <a:tailEnd type="triangle" w="sm" len="sm"/>
          </a:ln>
        </p:spPr>
      </p:cxnSp>
      <p:sp>
        <p:nvSpPr>
          <p:cNvPr id="25" name="每日运行与两类结果发布">
            <a:extLst>
              <a:ext uri="{FF2B5EF4-FFF2-40B4-BE49-F238E27FC236}">
                <a16:creationId xmlns:a16="http://schemas.microsoft.com/office/drawing/2014/main" id="{E01E44E5-16CA-47FE-AC4D-6BE7AAE328B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rPr>
              <a:t>每日运行与两类结果发布</a:t>
            </a:r>
          </a:p>
        </p:txBody>
      </p:sp>
      <p:sp>
        <p:nvSpPr>
          <p:cNvPr id="2" name="31">
            <a:extLst>
              <a:ext uri="{FF2B5EF4-FFF2-40B4-BE49-F238E27FC236}">
                <a16:creationId xmlns:a16="http://schemas.microsoft.com/office/drawing/2014/main" id="{0DF1C845-78AB-4293-B210-A3B316027C28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3" name="日内增量处理">
            <a:extLst>
              <a:ext uri="{FF2B5EF4-FFF2-40B4-BE49-F238E27FC236}">
                <a16:creationId xmlns:a16="http://schemas.microsoft.com/office/drawing/2014/main" id="{55D6E550-022D-484E-84F2-2EF0860F66A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3467100" cy="91440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日内增量处理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解析、聚类和更新</a:t>
            </a:r>
          </a:p>
        </p:txBody>
      </p:sp>
      <p:sp>
        <p:nvSpPr>
          <p:cNvPr id="4" name="截止时点冻结">
            <a:extLst>
              <a:ext uri="{FF2B5EF4-FFF2-40B4-BE49-F238E27FC236}">
                <a16:creationId xmlns:a16="http://schemas.microsoft.com/office/drawing/2014/main" id="{52113558-48E8-46F4-8994-0EA3978FB136}"/>
              </a:ext>
            </a:extLst>
          </p:cNvPr>
          <p:cNvSpPr>
            <a:spLocks noGrp="1"/>
          </p:cNvSpPr>
          <p:nvPr/>
        </p:nvSpPr>
        <p:spPr>
          <a:xfrm>
            <a:off x="4362450" y="1381125"/>
            <a:ext cx="3467100" cy="91440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截止时点冻结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固定数据快照</a:t>
            </a:r>
          </a:p>
        </p:txBody>
      </p:sp>
      <p:sp>
        <p:nvSpPr>
          <p:cNvPr id="5" name="审计与发布">
            <a:extLst>
              <a:ext uri="{FF2B5EF4-FFF2-40B4-BE49-F238E27FC236}">
                <a16:creationId xmlns:a16="http://schemas.microsoft.com/office/drawing/2014/main" id="{7D47379D-7756-4184-8257-7402336B08E3}"/>
              </a:ext>
            </a:extLst>
          </p:cNvPr>
          <p:cNvSpPr>
            <a:spLocks noGrp="1"/>
          </p:cNvSpPr>
          <p:nvPr/>
        </p:nvSpPr>
        <p:spPr>
          <a:xfrm>
            <a:off x="8115300" y="1381125"/>
            <a:ext cx="3467100" cy="914400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审计与发布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按任务状态分别归档</a:t>
            </a:r>
          </a:p>
        </p:txBody>
      </p:sp>
      <p:sp>
        <p:nvSpPr>
          <p:cNvPr id="8" name="个股研究">
            <a:extLst>
              <a:ext uri="{FF2B5EF4-FFF2-40B4-BE49-F238E27FC236}">
                <a16:creationId xmlns:a16="http://schemas.microsoft.com/office/drawing/2014/main" id="{7BE21D37-B838-4A71-91EE-6F50B14E3266}"/>
              </a:ext>
            </a:extLst>
          </p:cNvPr>
          <p:cNvSpPr>
            <a:spLocks noGrp="1"/>
          </p:cNvSpPr>
          <p:nvPr/>
        </p:nvSpPr>
        <p:spPr>
          <a:xfrm>
            <a:off x="609600" y="2714625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rPr>
              <a:t>个股研究</a:t>
            </a:r>
          </a:p>
        </p:txBody>
      </p:sp>
      <p:sp>
        <p:nvSpPr>
          <p:cNvPr id="9" name="P0检查">
            <a:extLst>
              <a:ext uri="{FF2B5EF4-FFF2-40B4-BE49-F238E27FC236}">
                <a16:creationId xmlns:a16="http://schemas.microsoft.com/office/drawing/2014/main" id="{96B6098D-3102-4EF4-9017-985000FE3EB1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2528888" cy="962025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P0检查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合格候选</a:t>
            </a:r>
          </a:p>
        </p:txBody>
      </p:sp>
      <p:sp>
        <p:nvSpPr>
          <p:cNvPr id="10" name="P1分析">
            <a:extLst>
              <a:ext uri="{FF2B5EF4-FFF2-40B4-BE49-F238E27FC236}">
                <a16:creationId xmlns:a16="http://schemas.microsoft.com/office/drawing/2014/main" id="{21973AD9-E206-4D1E-AD0E-41B2EF799A68}"/>
              </a:ext>
            </a:extLst>
          </p:cNvPr>
          <p:cNvSpPr>
            <a:spLocks noGrp="1"/>
          </p:cNvSpPr>
          <p:nvPr/>
        </p:nvSpPr>
        <p:spPr>
          <a:xfrm>
            <a:off x="3424238" y="3238500"/>
            <a:ext cx="2528888" cy="962025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P1分析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量化参考</a:t>
            </a:r>
          </a:p>
        </p:txBody>
      </p:sp>
      <p:sp>
        <p:nvSpPr>
          <p:cNvPr id="11" name="P2与P3">
            <a:extLst>
              <a:ext uri="{FF2B5EF4-FFF2-40B4-BE49-F238E27FC236}">
                <a16:creationId xmlns:a16="http://schemas.microsoft.com/office/drawing/2014/main" id="{F25E8FBA-95E8-4AA3-AB4F-EE380DD50FDE}"/>
              </a:ext>
            </a:extLst>
          </p:cNvPr>
          <p:cNvSpPr>
            <a:spLocks noGrp="1"/>
          </p:cNvSpPr>
          <p:nvPr/>
        </p:nvSpPr>
        <p:spPr>
          <a:xfrm>
            <a:off x="6238875" y="3238500"/>
            <a:ext cx="2528888" cy="962025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P2与P3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研究复核</a:t>
            </a:r>
          </a:p>
        </p:txBody>
      </p:sp>
      <p:sp>
        <p:nvSpPr>
          <p:cNvPr id="12" name="风险与名单">
            <a:extLst>
              <a:ext uri="{FF2B5EF4-FFF2-40B4-BE49-F238E27FC236}">
                <a16:creationId xmlns:a16="http://schemas.microsoft.com/office/drawing/2014/main" id="{9AED175D-4F5D-43D3-889B-A835DC55A825}"/>
              </a:ext>
            </a:extLst>
          </p:cNvPr>
          <p:cNvSpPr>
            <a:spLocks noGrp="1"/>
          </p:cNvSpPr>
          <p:nvPr/>
        </p:nvSpPr>
        <p:spPr>
          <a:xfrm>
            <a:off x="9053513" y="3238500"/>
            <a:ext cx="2528888" cy="962025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风险与名单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0至10只</a:t>
            </a:r>
          </a:p>
        </p:txBody>
      </p:sp>
      <p:sp>
        <p:nvSpPr>
          <p:cNvPr id="16" name="前瞻大事件">
            <a:extLst>
              <a:ext uri="{FF2B5EF4-FFF2-40B4-BE49-F238E27FC236}">
                <a16:creationId xmlns:a16="http://schemas.microsoft.com/office/drawing/2014/main" id="{34828620-64FA-4F1D-9267-C33DA6C62B8C}"/>
              </a:ext>
            </a:extLst>
          </p:cNvPr>
          <p:cNvSpPr>
            <a:spLocks noGrp="1"/>
          </p:cNvSpPr>
          <p:nvPr/>
        </p:nvSpPr>
        <p:spPr>
          <a:xfrm>
            <a:off x="609600" y="45339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rPr>
              <a:t>前瞻大事件</a:t>
            </a:r>
          </a:p>
        </p:txBody>
      </p:sp>
      <p:sp>
        <p:nvSpPr>
          <p:cNvPr id="17" name="预期事件更新">
            <a:extLst>
              <a:ext uri="{FF2B5EF4-FFF2-40B4-BE49-F238E27FC236}">
                <a16:creationId xmlns:a16="http://schemas.microsoft.com/office/drawing/2014/main" id="{679C4F79-11D9-4CD0-B60A-2FD0CD459053}"/>
              </a:ext>
            </a:extLst>
          </p:cNvPr>
          <p:cNvSpPr>
            <a:spLocks noGrp="1"/>
          </p:cNvSpPr>
          <p:nvPr/>
        </p:nvSpPr>
        <p:spPr>
          <a:xfrm>
            <a:off x="609600" y="5029200"/>
            <a:ext cx="2528888" cy="866775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预期事件更新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读取新增证据</a:t>
            </a:r>
          </a:p>
        </p:txBody>
      </p:sp>
      <p:sp>
        <p:nvSpPr>
          <p:cNvPr id="18" name="聚类与排序">
            <a:extLst>
              <a:ext uri="{FF2B5EF4-FFF2-40B4-BE49-F238E27FC236}">
                <a16:creationId xmlns:a16="http://schemas.microsoft.com/office/drawing/2014/main" id="{D340F3BF-B76D-41BC-B6DE-801D364AFCEC}"/>
              </a:ext>
            </a:extLst>
          </p:cNvPr>
          <p:cNvSpPr>
            <a:spLocks noGrp="1"/>
          </p:cNvSpPr>
          <p:nvPr/>
        </p:nvSpPr>
        <p:spPr>
          <a:xfrm>
            <a:off x="3424238" y="5029200"/>
            <a:ext cx="2528888" cy="866775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聚类与排序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四维分级</a:t>
            </a:r>
          </a:p>
        </p:txBody>
      </p:sp>
      <p:sp>
        <p:nvSpPr>
          <p:cNvPr id="19" name="兑现跟踪">
            <a:extLst>
              <a:ext uri="{FF2B5EF4-FFF2-40B4-BE49-F238E27FC236}">
                <a16:creationId xmlns:a16="http://schemas.microsoft.com/office/drawing/2014/main" id="{DC764F3A-DA6C-4E7D-B8B3-92504822BD89}"/>
              </a:ext>
            </a:extLst>
          </p:cNvPr>
          <p:cNvSpPr>
            <a:spLocks noGrp="1"/>
          </p:cNvSpPr>
          <p:nvPr/>
        </p:nvSpPr>
        <p:spPr>
          <a:xfrm>
            <a:off x="6238875" y="5029200"/>
            <a:ext cx="2528888" cy="866775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兑现跟踪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核验状态变化</a:t>
            </a:r>
          </a:p>
        </p:txBody>
      </p:sp>
      <p:sp>
        <p:nvSpPr>
          <p:cNvPr id="20" name="独立榜单">
            <a:extLst>
              <a:ext uri="{FF2B5EF4-FFF2-40B4-BE49-F238E27FC236}">
                <a16:creationId xmlns:a16="http://schemas.microsoft.com/office/drawing/2014/main" id="{66B8F301-3565-422D-AA5D-811734698851}"/>
              </a:ext>
            </a:extLst>
          </p:cNvPr>
          <p:cNvSpPr>
            <a:spLocks noGrp="1"/>
          </p:cNvSpPr>
          <p:nvPr/>
        </p:nvSpPr>
        <p:spPr>
          <a:xfrm>
            <a:off x="9053513" y="5029200"/>
            <a:ext cx="2528888" cy="866775"/>
          </a:xfrm>
          <a:prstGeom prst="rect">
            <a:avLst/>
          </a:prstGeom>
          <a:solidFill>
            <a:srgbClr val="FFFFFF"/>
          </a:solidFill>
          <a:ln w="12383">
            <a:solidFill>
              <a:srgbClr val="BBC3CB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独立榜单</a:t>
            </a:r>
          </a:p>
          <a:p>
            <a:pPr algn="ctr">
              <a:lnSpc>
                <a:spcPct val="108000"/>
              </a:lnSpc>
              <a:buNone/>
              <a:def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0至10项</a:t>
            </a:r>
          </a:p>
        </p:txBody>
      </p:sp>
      <p:sp>
        <p:nvSpPr>
          <p:cNvPr id="24" name="迟到内容进入下一快照。每个环节保留开始、结束、输入版">
            <a:extLst>
              <a:ext uri="{FF2B5EF4-FFF2-40B4-BE49-F238E27FC236}">
                <a16:creationId xmlns:a16="http://schemas.microsoft.com/office/drawing/2014/main" id="{CA5A7E63-D9ED-4F0D-A4D6-A600F11882AE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03942"/>
                </a:solidFill>
                <a:latin typeface="Microsoft YaHei"/>
                <a:ea typeface="Microsoft YaHei"/>
                <a:cs typeface="Microsoft YaHei"/>
              </a:rPr>
              <a:t>迟到内容进入下一快照。每个环节保留开始、结束、输入版本和失败原因。</a:t>
            </a:r>
          </a:p>
        </p:txBody>
      </p:sp>
    </p:spTree>
    <p:extLst>
      <p:ext uri="{BB962C8B-B14F-4D97-AF65-F5344CB8AC3E}">
        <p14:creationId xmlns:p14="http://schemas.microsoft.com/office/powerpoint/2010/main" val="19525459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研究交付与验收重点">
            <a:extLst>
              <a:ext uri="{FF2B5EF4-FFF2-40B4-BE49-F238E27FC236}">
                <a16:creationId xmlns:a16="http://schemas.microsoft.com/office/drawing/2014/main" id="{96702A1F-62C1-431B-ADD2-66F442BED01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C59"/>
                </a:solidFill>
                <a:latin typeface="Microsoft YaHei"/>
                <a:ea typeface="Microsoft YaHei"/>
                <a:cs typeface="Microsoft YaHei"/>
              </a:rPr>
              <a:t>研究交付与验收重点</a:t>
            </a:r>
          </a:p>
        </p:txBody>
      </p:sp>
      <p:sp>
        <p:nvSpPr>
          <p:cNvPr id="2" name="32">
            <a:extLst>
              <a:ext uri="{FF2B5EF4-FFF2-40B4-BE49-F238E27FC236}">
                <a16:creationId xmlns:a16="http://schemas.microsoft.com/office/drawing/2014/main" id="{B435728E-967A-48B2-91E4-4E42DE9CAE52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7D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graphicFrame>
        <p:nvGraphicFramePr>
          <p:cNvPr id="3" name="内容比较表">
            <a:extLst>
              <a:ext uri="{FF2B5EF4-FFF2-40B4-BE49-F238E27FC236}">
                <a16:creationId xmlns:a16="http://schemas.microsoft.com/office/drawing/2014/main" id="{3870617B-82DF-4985-8752-951F6A537197}"/>
              </a:ext>
            </a:extLst>
          </p:cNvPr>
          <p:cNvGraphicFramePr/>
          <p:nvPr/>
        </p:nvGraphicFramePr>
        <p:xfrm>
          <a:off x="609600" y="1381125"/>
          <a:ext cx="10972800" cy="3600450"/>
        </p:xfrm>
        <a:graphic>
          <a:graphicData uri="http://schemas.openxmlformats.org/drawingml/2006/table">
            <a:tbl>
              <a:tblPr/>
              <a:tblGrid>
                <a:gridCol w="272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203C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应包含的信息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重点研究观察名单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公司研究摘要、支持与反向证据、风险、未知项，以及量化参考概率和顺序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公司研究卡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业务拆分、收入利润传导、预期差、同业比较、跟踪指标和失效条件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前瞻大事件榜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重要性、新颖度、发生可能性、时间窗、来源证据和状态变化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追溯与审计材料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39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数据截止时间、事件与候选关系、模型及校准版本、处理状态和变化记录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直接连接符 3">
            <a:extLst>
              <a:ext uri="{FF2B5EF4-FFF2-40B4-BE49-F238E27FC236}">
                <a16:creationId xmlns:a16="http://schemas.microsoft.com/office/drawing/2014/main" id="{6D45D1EA-CC87-4227-8BD3-2D27FDABC8D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0"/>
          </a:xfrm>
          <a:prstGeom prst="line">
            <a:avLst/>
          </a:prstGeom>
          <a:noFill/>
          <a:ln w="13335">
            <a:solidFill>
              <a:srgbClr val="203C59"/>
            </a:solidFill>
          </a:ln>
        </p:spPr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E2B34F96-E727-4D63-8B01-C18234F22F4F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10972800" cy="0"/>
          </a:xfrm>
          <a:prstGeom prst="line">
            <a:avLst/>
          </a:prstGeom>
          <a:noFill/>
          <a:ln w="9525">
            <a:solidFill>
              <a:srgbClr val="203C59"/>
            </a:solidFill>
          </a:ln>
        </p:spPr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2E597ED5-7E9B-4951-9D9B-1BBB85242A81}"/>
              </a:ext>
            </a:extLst>
          </p:cNvPr>
          <p:cNvSpPr>
            <a:spLocks noGrp="1"/>
          </p:cNvSpPr>
          <p:nvPr/>
        </p:nvSpPr>
        <p:spPr>
          <a:xfrm>
            <a:off x="609600" y="4981575"/>
            <a:ext cx="10972800" cy="0"/>
          </a:xfrm>
          <a:prstGeom prst="line">
            <a:avLst/>
          </a:prstGeom>
          <a:noFill/>
          <a:ln w="13335">
            <a:solidFill>
              <a:srgbClr val="203C59"/>
            </a:solidFill>
          </a:ln>
        </p:spPr>
      </p:sp>
    </p:spTree>
    <p:extLst>
      <p:ext uri="{BB962C8B-B14F-4D97-AF65-F5344CB8AC3E}">
        <p14:creationId xmlns:p14="http://schemas.microsoft.com/office/powerpoint/2010/main" val="123709096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1470</Words>
  <Application>Microsoft Office PowerPoint</Application>
  <DocSecurity>0</DocSecurity>
  <PresentationFormat>宽屏</PresentationFormat>
  <Paragraphs>581</Paragraphs>
  <Slides>32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5" baseType="lpstr">
      <vt:lpstr>Microsoft YaHei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林 庞</cp:lastModifiedBy>
  <cp:revision>1</cp:revision>
  <dcterms:created xsi:type="dcterms:W3CDTF">2026-10-12T05:44:05Z</dcterms:created>
  <dcterms:modified xsi:type="dcterms:W3CDTF">2026-10-12T08:11:10Z</dcterms:modified>
</cp:coreProperties>
</file>